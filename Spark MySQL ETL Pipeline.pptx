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sldIdLst>
    <p:sldId id="256" r:id="rId2"/>
    <p:sldId id="378" r:id="rId3"/>
    <p:sldId id="317" r:id="rId4"/>
    <p:sldId id="318" r:id="rId5"/>
    <p:sldId id="369" r:id="rId6"/>
    <p:sldId id="371" r:id="rId7"/>
    <p:sldId id="403" r:id="rId8"/>
    <p:sldId id="404" r:id="rId9"/>
    <p:sldId id="405" r:id="rId10"/>
    <p:sldId id="3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14" autoAdjust="0"/>
    <p:restoredTop sz="94592"/>
  </p:normalViewPr>
  <p:slideViewPr>
    <p:cSldViewPr snapToGrid="0" showGuides="1">
      <p:cViewPr varScale="1">
        <p:scale>
          <a:sx n="97" d="100"/>
          <a:sy n="97" d="100"/>
        </p:scale>
        <p:origin x="776" y="200"/>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CF8A0B-5453-0546-9AC8-9E447427A580}" type="datetimeFigureOut">
              <a:rPr lang="en-VN" smtClean="0"/>
              <a:t>16/5/26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0E95F2-29BD-1B43-8774-8E77A80C769A}" type="slidenum">
              <a:rPr lang="en-VN" smtClean="0"/>
              <a:t>‹#›</a:t>
            </a:fld>
            <a:endParaRPr lang="en-VN"/>
          </a:p>
        </p:txBody>
      </p:sp>
    </p:spTree>
    <p:extLst>
      <p:ext uri="{BB962C8B-B14F-4D97-AF65-F5344CB8AC3E}">
        <p14:creationId xmlns:p14="http://schemas.microsoft.com/office/powerpoint/2010/main" val="4288997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B70E95F2-29BD-1B43-8774-8E77A80C769A}" type="slidenum">
              <a:rPr lang="en-VN" smtClean="0"/>
              <a:t>1</a:t>
            </a:fld>
            <a:endParaRPr lang="en-VN"/>
          </a:p>
        </p:txBody>
      </p:sp>
    </p:spTree>
    <p:extLst>
      <p:ext uri="{BB962C8B-B14F-4D97-AF65-F5344CB8AC3E}">
        <p14:creationId xmlns:p14="http://schemas.microsoft.com/office/powerpoint/2010/main" val="2153171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800">
                <a:solidFill>
                  <a:srgbClr val="C00000"/>
                </a:solidFill>
                <a:latin typeface="Segoe UI Black" panose="020B0A02040204020203" pitchFamily="34" charset="0"/>
                <a:ea typeface="Segoe UI Black" panose="020B0A02040204020203" pitchFamily="34" charset="0"/>
              </a:defRPr>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008080"/>
                </a:solidFill>
                <a:latin typeface="Segoe UI Black" panose="020B0A02040204020203" pitchFamily="34" charset="0"/>
                <a:ea typeface="Segoe UI Black" panose="020B0A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1035" indent="0" algn="ctr">
              <a:buNone/>
              <a:defRPr sz="1600"/>
            </a:lvl8pPr>
            <a:lvl9pPr marL="3658235"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3340687-F0A6-4844-9D0E-4A71047B582E}" type="datetime1">
              <a:rPr lang="en-GB" smtClean="0"/>
              <a:t>16/05/2026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5848B"/>
                </a:solidFill>
              </a:defRPr>
            </a:lvl1pPr>
          </a:lstStyle>
          <a:p>
            <a:r>
              <a:rPr lang="en-US"/>
              <a:t>Click to edit Master title style</a:t>
            </a:r>
            <a:endParaRPr lang="en-GB"/>
          </a:p>
        </p:txBody>
      </p:sp>
      <p:sp>
        <p:nvSpPr>
          <p:cNvPr id="3" name="Content Placeholder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solidFill>
                  <a:schemeClr val="bg1"/>
                </a:solidFill>
              </a:defRPr>
            </a:lvl1pPr>
          </a:lstStyle>
          <a:p>
            <a:fld id="{19E0BBC2-331D-455A-8F34-6CACAAA7B272}" type="datetime1">
              <a:rPr lang="en-GB" smtClean="0"/>
              <a:t>16/05/2026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A3D6EC1-CEF0-44B9-AC69-1554EEB371D5}"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2"/>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7"/>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1035" indent="0">
              <a:buNone/>
              <a:defRPr sz="1600">
                <a:solidFill>
                  <a:schemeClr val="tx1">
                    <a:tint val="75000"/>
                  </a:schemeClr>
                </a:solidFill>
              </a:defRPr>
            </a:lvl8pPr>
            <a:lvl9pPr marL="365823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796F3C-EA11-4B8E-A5D6-898715DAA61A}" type="datetime1">
              <a:rPr lang="en-GB" smtClean="0"/>
              <a:t>16/05/2026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8080"/>
                </a:solidFill>
              </a:defRPr>
            </a:lvl1pPr>
          </a:lstStyle>
          <a:p>
            <a:r>
              <a:rPr lang="en-US"/>
              <a:t>Click to edit Master title style</a:t>
            </a:r>
            <a:endParaRPr lang="en-GB"/>
          </a:p>
        </p:txBody>
      </p:sp>
      <p:sp>
        <p:nvSpPr>
          <p:cNvPr id="3" name="Content Placeholder 2"/>
          <p:cNvSpPr>
            <a:spLocks noGrp="1"/>
          </p:cNvSpPr>
          <p:nvPr>
            <p:ph sz="half" idx="1"/>
          </p:nvPr>
        </p:nvSpPr>
        <p:spPr>
          <a:xfrm>
            <a:off x="838200" y="2095130"/>
            <a:ext cx="5181600" cy="4081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2095129"/>
            <a:ext cx="5181600" cy="4081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DE42CF6-A011-4145-8138-B18222BE784F}" type="datetime1">
              <a:rPr lang="en-GB" smtClean="0"/>
              <a:t>16/05/2026</a:t>
            </a:fld>
            <a:endParaRPr lang="en-GB"/>
          </a:p>
        </p:txBody>
      </p:sp>
      <p:sp>
        <p:nvSpPr>
          <p:cNvPr id="6" name="Footer Placeholder 5"/>
          <p:cNvSpPr>
            <a:spLocks noGrp="1"/>
          </p:cNvSpPr>
          <p:nvPr>
            <p:ph type="ftr" sz="quarter" idx="11"/>
          </p:nvPr>
        </p:nvSpPr>
        <p:spPr/>
        <p:txBody>
          <a:bodyPr/>
          <a:lstStyle/>
          <a:p>
            <a:r>
              <a:rPr lang="en-GB"/>
              <a:t>KIẾN THỨC - KỸ NĂNG - SÁNG TẠO - HỘI NHẬP</a:t>
            </a:r>
          </a:p>
        </p:txBody>
      </p:sp>
      <p:sp>
        <p:nvSpPr>
          <p:cNvPr id="7" name="Slide Number Placeholder 6"/>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866776"/>
            <a:ext cx="10515600" cy="823912"/>
          </a:xfrm>
        </p:spPr>
        <p:txBody>
          <a:bodyPr/>
          <a:lstStyle/>
          <a:p>
            <a:r>
              <a:rPr lang="en-US"/>
              <a:t>Click to edit Master title style</a:t>
            </a:r>
            <a:endParaRPr lang="en-GB"/>
          </a:p>
        </p:txBody>
      </p:sp>
      <p:sp>
        <p:nvSpPr>
          <p:cNvPr id="3" name="Text Placeholder 2"/>
          <p:cNvSpPr>
            <a:spLocks noGrp="1"/>
          </p:cNvSpPr>
          <p:nvPr>
            <p:ph type="body" idx="1"/>
          </p:nvPr>
        </p:nvSpPr>
        <p:spPr>
          <a:xfrm>
            <a:off x="839791" y="1857375"/>
            <a:ext cx="5157787" cy="6477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1035" indent="0">
              <a:buNone/>
              <a:defRPr sz="1600" b="1"/>
            </a:lvl8pPr>
            <a:lvl9pPr marL="3658235"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91"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857375"/>
            <a:ext cx="5183188" cy="6477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1035" indent="0">
              <a:buNone/>
              <a:defRPr sz="1600" b="1"/>
            </a:lvl8pPr>
            <a:lvl9pPr marL="3658235"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6776141-2144-4216-A5D8-625EEC9D46A7}" type="datetime1">
              <a:rPr lang="en-GB" smtClean="0"/>
              <a:t>16/05/2026</a:t>
            </a:fld>
            <a:endParaRPr lang="en-GB"/>
          </a:p>
        </p:txBody>
      </p:sp>
      <p:sp>
        <p:nvSpPr>
          <p:cNvPr id="8" name="Footer Placeholder 7"/>
          <p:cNvSpPr>
            <a:spLocks noGrp="1"/>
          </p:cNvSpPr>
          <p:nvPr>
            <p:ph type="ftr" sz="quarter" idx="11"/>
          </p:nvPr>
        </p:nvSpPr>
        <p:spPr/>
        <p:txBody>
          <a:bodyPr/>
          <a:lstStyle/>
          <a:p>
            <a:r>
              <a:rPr lang="en-GB"/>
              <a:t>KIẾN THỨC - KỸ NĂNG - SÁNG TẠO - HỘI NHẬP</a:t>
            </a:r>
          </a:p>
        </p:txBody>
      </p:sp>
      <p:sp>
        <p:nvSpPr>
          <p:cNvPr id="9" name="Slide Number Placeholder 8"/>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5231884-8841-474E-B980-3663B77BB24B}" type="datetime1">
              <a:rPr lang="en-GB" smtClean="0"/>
              <a:t>16/05/2026</a:t>
            </a:fld>
            <a:endParaRPr lang="en-GB"/>
          </a:p>
        </p:txBody>
      </p:sp>
      <p:sp>
        <p:nvSpPr>
          <p:cNvPr id="4" name="Footer Placeholder 3"/>
          <p:cNvSpPr>
            <a:spLocks noGrp="1"/>
          </p:cNvSpPr>
          <p:nvPr>
            <p:ph type="ftr" sz="quarter" idx="11"/>
          </p:nvPr>
        </p:nvSpPr>
        <p:spPr/>
        <p:txBody>
          <a:bodyPr/>
          <a:lstStyle/>
          <a:p>
            <a:r>
              <a:rPr lang="en-GB"/>
              <a:t>KIẾN THỨC - KỸ NĂNG - SÁNG TẠO - HỘI NHẬP</a:t>
            </a:r>
          </a:p>
        </p:txBody>
      </p:sp>
      <p:sp>
        <p:nvSpPr>
          <p:cNvPr id="5" name="Slide Number Placeholder 4"/>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1E740A-6F50-4770-9109-746EC93EBE8F}" type="datetime1">
              <a:rPr lang="en-GB" smtClean="0"/>
              <a:t>16/05/2026</a:t>
            </a:fld>
            <a:endParaRPr lang="en-GB"/>
          </a:p>
        </p:txBody>
      </p:sp>
      <p:sp>
        <p:nvSpPr>
          <p:cNvPr id="3" name="Footer Placeholder 2"/>
          <p:cNvSpPr>
            <a:spLocks noGrp="1"/>
          </p:cNvSpPr>
          <p:nvPr>
            <p:ph type="ftr" sz="quarter" idx="11"/>
          </p:nvPr>
        </p:nvSpPr>
        <p:spPr/>
        <p:txBody>
          <a:bodyPr/>
          <a:lstStyle/>
          <a:p>
            <a:r>
              <a:rPr lang="en-GB"/>
              <a:t>KIẾN THỨC - KỸ NĂNG - SÁNG TẠO - HỘI NHẬP</a:t>
            </a:r>
          </a:p>
        </p:txBody>
      </p:sp>
      <p:sp>
        <p:nvSpPr>
          <p:cNvPr id="4" name="Slide Number Placeholder 3"/>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987428"/>
            <a:ext cx="3932237" cy="1069975"/>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91"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1035" indent="0">
              <a:buNone/>
              <a:defRPr sz="1000"/>
            </a:lvl8pPr>
            <a:lvl9pPr marL="365823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933542-D7FF-4C5D-BCD1-FC068661ADB1}" type="datetime1">
              <a:rPr lang="en-GB" smtClean="0"/>
              <a:t>16/05/2026</a:t>
            </a:fld>
            <a:endParaRPr lang="en-GB"/>
          </a:p>
        </p:txBody>
      </p:sp>
      <p:sp>
        <p:nvSpPr>
          <p:cNvPr id="6" name="Footer Placeholder 5"/>
          <p:cNvSpPr>
            <a:spLocks noGrp="1"/>
          </p:cNvSpPr>
          <p:nvPr>
            <p:ph type="ftr" sz="quarter" idx="11"/>
          </p:nvPr>
        </p:nvSpPr>
        <p:spPr/>
        <p:txBody>
          <a:bodyPr/>
          <a:lstStyle/>
          <a:p>
            <a:r>
              <a:rPr lang="en-GB"/>
              <a:t>KIẾN THỨC - KỸ NĂNG - SÁNG TẠO - HỘI NHẬP</a:t>
            </a:r>
          </a:p>
        </p:txBody>
      </p:sp>
      <p:sp>
        <p:nvSpPr>
          <p:cNvPr id="7" name="Slide Number Placeholder 6"/>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1"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9"/>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1035" indent="0">
              <a:buNone/>
              <a:defRPr sz="2000"/>
            </a:lvl8pPr>
            <a:lvl9pPr marL="3658235"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839791"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1035" indent="0">
              <a:buNone/>
              <a:defRPr sz="1000"/>
            </a:lvl8pPr>
            <a:lvl9pPr marL="3658235"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A70A37-54E1-46AB-854A-7F4CAEAC5932}" type="datetime1">
              <a:rPr lang="en-GB" smtClean="0"/>
              <a:t>16/05/2026</a:t>
            </a:fld>
            <a:endParaRPr lang="en-GB"/>
          </a:p>
        </p:txBody>
      </p:sp>
      <p:sp>
        <p:nvSpPr>
          <p:cNvPr id="6" name="Footer Placeholder 5"/>
          <p:cNvSpPr>
            <a:spLocks noGrp="1"/>
          </p:cNvSpPr>
          <p:nvPr>
            <p:ph type="ftr" sz="quarter" idx="11"/>
          </p:nvPr>
        </p:nvSpPr>
        <p:spPr/>
        <p:txBody>
          <a:bodyPr/>
          <a:lstStyle/>
          <a:p>
            <a:r>
              <a:rPr lang="en-GB"/>
              <a:t>KIẾN THỨC - KỸ NĂNG - SÁNG TẠO - HỘI NHẬP</a:t>
            </a:r>
          </a:p>
        </p:txBody>
      </p:sp>
      <p:sp>
        <p:nvSpPr>
          <p:cNvPr id="7" name="Slide Number Placeholder 6"/>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85F13F3-5CA4-464A-A58E-B619976AB19A}" type="datetime1">
              <a:rPr lang="en-GB" smtClean="0"/>
              <a:t>16/05/2026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6"/>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80203B-5407-419A-8A7D-10870893C35F}" type="datetime1">
              <a:rPr lang="en-GB" smtClean="0"/>
              <a:t>16/05/2026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228232"/>
            <a:ext cx="10515600" cy="76741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2175030"/>
            <a:ext cx="10515600" cy="40019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bg1"/>
                </a:solidFill>
              </a:defRPr>
            </a:lvl1pPr>
          </a:lstStyle>
          <a:p>
            <a:fld id="{4C18046E-BA9B-4548-A8AC-F9F2F702B23B}" type="datetime1">
              <a:rPr lang="en-GB" smtClean="0"/>
              <a:t>16/05/2026</a:t>
            </a:fld>
            <a:endParaRPr lang="en-GB"/>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rgbClr val="C00000"/>
                </a:solidFill>
              </a:defRPr>
            </a:lvl1pPr>
          </a:lstStyle>
          <a:p>
            <a:r>
              <a:rPr lang="en-GB"/>
              <a:t>KIẾN THỨC - KỸ NĂNG - SÁNG TẠO - HỘI NHẬP</a:t>
            </a:r>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bg1"/>
                </a:solidFill>
              </a:defRPr>
            </a:lvl1pPr>
          </a:lstStyle>
          <a:p>
            <a:fld id="{AA3D6EC1-CEF0-44B9-AC69-1554EEB371D5}" type="slidenum">
              <a:rPr lang="en-GB" smtClean="0"/>
              <a:t>‹#›</a:t>
            </a:fld>
            <a:endParaRPr lang="en-GB"/>
          </a:p>
        </p:txBody>
      </p:sp>
      <p:sp>
        <p:nvSpPr>
          <p:cNvPr id="7" name="Title 1"/>
          <p:cNvSpPr txBox="1"/>
          <p:nvPr/>
        </p:nvSpPr>
        <p:spPr>
          <a:xfrm>
            <a:off x="5344358" y="228539"/>
            <a:ext cx="6847642" cy="68909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pPr algn="ctr"/>
            <a:r>
              <a:rPr lang="en-US" sz="2400" b="1">
                <a:solidFill>
                  <a:srgbClr val="008080"/>
                </a:solidFill>
              </a:rPr>
              <a:t>TRƯỜNG ĐẠI HỌC GIAO THÔNG VẬN TẢI </a:t>
            </a:r>
            <a:br>
              <a:rPr lang="en-US" sz="2400" b="1">
                <a:solidFill>
                  <a:srgbClr val="008080"/>
                </a:solidFill>
              </a:rPr>
            </a:br>
            <a:r>
              <a:rPr lang="en-US" sz="2400" b="1">
                <a:solidFill>
                  <a:srgbClr val="008080"/>
                </a:solidFill>
              </a:rPr>
              <a:t>THÀNH PHỐ HỒ CHÍ MINH</a:t>
            </a:r>
            <a:endParaRPr lang="en-GB" sz="2400" b="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rgbClr val="15848B"/>
          </a:solidFill>
          <a:latin typeface="Segoe UI Black" panose="020B0A02040204020203" pitchFamily="34" charset="0"/>
          <a:ea typeface="Segoe UI Black" panose="020B0A02040204020203" pitchFamily="34" charset="0"/>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6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926123"/>
            <a:ext cx="9144000" cy="1005753"/>
          </a:xfrm>
        </p:spPr>
        <p:txBody>
          <a:bodyPr>
            <a:noAutofit/>
          </a:bodyPr>
          <a:lstStyle/>
          <a:p>
            <a:r>
              <a:rPr lang="en-VN" b="1" dirty="0">
                <a:solidFill>
                  <a:schemeClr val="tx1"/>
                </a:solidFill>
                <a:latin typeface="Times New Roman" panose="02020603050405020304" pitchFamily="18" charset="0"/>
              </a:rPr>
              <a:t>Data Processing with PySpark and MySQL</a:t>
            </a:r>
            <a:endParaRPr lang="en-VN" dirty="0">
              <a:solidFill>
                <a:schemeClr val="tx1"/>
              </a:solidFill>
              <a:latin typeface="Times New Roman" panose="02020603050405020304" pitchFamily="18" charset="0"/>
            </a:endParaRPr>
          </a:p>
        </p:txBody>
      </p:sp>
      <p:sp>
        <p:nvSpPr>
          <p:cNvPr id="5" name="Footer Placeholder 3"/>
          <p:cNvSpPr>
            <a:spLocks noGrp="1"/>
          </p:cNvSpPr>
          <p:nvPr>
            <p:ph type="ftr" sz="quarter" idx="11"/>
          </p:nvPr>
        </p:nvSpPr>
        <p:spPr>
          <a:xfrm>
            <a:off x="4038600" y="6356354"/>
            <a:ext cx="4114800" cy="365125"/>
          </a:xfrm>
        </p:spPr>
        <p:txBody>
          <a:bodyPr/>
          <a:lstStyle/>
          <a:p>
            <a:r>
              <a:rPr lang="en-GB" dirty="0">
                <a:solidFill>
                  <a:schemeClr val="tx1"/>
                </a:solidFill>
                <a:latin typeface="Times New Roman" panose="02020603050405020304" pitchFamily="18" charset="0"/>
                <a:cs typeface="Times New Roman" panose="02020603050405020304" pitchFamily="18" charset="0"/>
              </a:rPr>
              <a:t>KIẾN THỨC - KỸ NĂNG - SÁNG TẠO - HỘI NHẬP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7D250-4BB8-BBE6-38D0-929D8CFFD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73FD1-DB56-023F-63B7-2013BE651CAB}"/>
              </a:ext>
            </a:extLst>
          </p:cNvPr>
          <p:cNvSpPr>
            <a:spLocks noGrp="1"/>
          </p:cNvSpPr>
          <p:nvPr>
            <p:ph type="ctrTitle"/>
          </p:nvPr>
        </p:nvSpPr>
        <p:spPr>
          <a:xfrm>
            <a:off x="645213" y="1225497"/>
            <a:ext cx="10875818" cy="610899"/>
          </a:xfrm>
        </p:spPr>
        <p:txBody>
          <a:bodyPr>
            <a:noAutofit/>
          </a:bodyPr>
          <a:lstStyle/>
          <a:p>
            <a:r>
              <a:rPr lang="en-US" sz="4000" b="1" dirty="0" err="1">
                <a:solidFill>
                  <a:schemeClr val="tx1"/>
                </a:solidFill>
                <a:latin typeface="Times New Roman" panose="02020603050405020304" pitchFamily="18" charset="0"/>
              </a:rPr>
              <a:t>Mục</a:t>
            </a:r>
            <a:r>
              <a:rPr lang="en-US" sz="4000" b="1" dirty="0">
                <a:solidFill>
                  <a:schemeClr val="tx1"/>
                </a:solidFill>
                <a:latin typeface="Times New Roman" panose="02020603050405020304" pitchFamily="18" charset="0"/>
              </a:rPr>
              <a:t> </a:t>
            </a:r>
            <a:r>
              <a:rPr lang="en-US" sz="4000" b="1" dirty="0" err="1">
                <a:solidFill>
                  <a:schemeClr val="tx1"/>
                </a:solidFill>
                <a:latin typeface="Times New Roman" panose="02020603050405020304" pitchFamily="18" charset="0"/>
              </a:rPr>
              <a:t>tiêu</a:t>
            </a:r>
            <a:r>
              <a:rPr lang="en-US" sz="4000" b="1" dirty="0">
                <a:solidFill>
                  <a:schemeClr val="tx1"/>
                </a:solidFill>
                <a:latin typeface="Times New Roman" panose="02020603050405020304" pitchFamily="18" charset="0"/>
              </a:rPr>
              <a:t> </a:t>
            </a:r>
            <a:r>
              <a:rPr lang="en-US" sz="4000" b="1" dirty="0" err="1">
                <a:solidFill>
                  <a:schemeClr val="tx1"/>
                </a:solidFill>
                <a:latin typeface="Times New Roman" panose="02020603050405020304" pitchFamily="18" charset="0"/>
              </a:rPr>
              <a:t>dự</a:t>
            </a:r>
            <a:r>
              <a:rPr lang="en-US" sz="4000" b="1" dirty="0">
                <a:solidFill>
                  <a:schemeClr val="tx1"/>
                </a:solidFill>
                <a:latin typeface="Times New Roman" panose="02020603050405020304" pitchFamily="18" charset="0"/>
              </a:rPr>
              <a:t> </a:t>
            </a:r>
            <a:r>
              <a:rPr lang="en-US" sz="4000" b="1" dirty="0" err="1">
                <a:solidFill>
                  <a:schemeClr val="tx1"/>
                </a:solidFill>
                <a:latin typeface="Times New Roman" panose="02020603050405020304" pitchFamily="18" charset="0"/>
              </a:rPr>
              <a:t>án</a:t>
            </a:r>
            <a:endParaRPr lang="en-US" sz="4000" b="1" dirty="0">
              <a:solidFill>
                <a:schemeClr val="tx1"/>
              </a:solidFill>
              <a:latin typeface="Times New Roman" panose="02020603050405020304" pitchFamily="18" charset="0"/>
            </a:endParaRPr>
          </a:p>
        </p:txBody>
      </p:sp>
      <p:sp>
        <p:nvSpPr>
          <p:cNvPr id="6" name="Footer Placeholder 3">
            <a:extLst>
              <a:ext uri="{FF2B5EF4-FFF2-40B4-BE49-F238E27FC236}">
                <a16:creationId xmlns:a16="http://schemas.microsoft.com/office/drawing/2014/main" id="{2F05FBFA-30BF-67C0-18D1-99B8D13A9028}"/>
              </a:ext>
            </a:extLst>
          </p:cNvPr>
          <p:cNvSpPr>
            <a:spLocks noGrp="1"/>
          </p:cNvSpPr>
          <p:nvPr>
            <p:ph type="ftr" sz="quarter" idx="11"/>
          </p:nvPr>
        </p:nvSpPr>
        <p:spPr>
          <a:xfrm>
            <a:off x="4038600" y="6356354"/>
            <a:ext cx="4114800" cy="365125"/>
          </a:xfrm>
        </p:spPr>
        <p:txBody>
          <a:bodyPr/>
          <a:lstStyle/>
          <a:p>
            <a:r>
              <a:rPr lang="en-GB" dirty="0">
                <a:solidFill>
                  <a:schemeClr val="tx1"/>
                </a:solidFill>
                <a:latin typeface="Times New Roman" panose="02020603050405020304" pitchFamily="18" charset="0"/>
                <a:cs typeface="Times New Roman" panose="02020603050405020304" pitchFamily="18" charset="0"/>
              </a:rPr>
              <a:t>KIẾN THỨC - KỸ NĂNG - SÁNG TẠO - HỘI NHẬP</a:t>
            </a:r>
          </a:p>
        </p:txBody>
      </p:sp>
      <p:sp>
        <p:nvSpPr>
          <p:cNvPr id="12" name="Rectangle: Rounded Corners 6">
            <a:extLst>
              <a:ext uri="{FF2B5EF4-FFF2-40B4-BE49-F238E27FC236}">
                <a16:creationId xmlns:a16="http://schemas.microsoft.com/office/drawing/2014/main" id="{5D202BCA-7514-6B1D-2C1D-E1CB93D765D7}"/>
              </a:ext>
            </a:extLst>
          </p:cNvPr>
          <p:cNvSpPr/>
          <p:nvPr/>
        </p:nvSpPr>
        <p:spPr>
          <a:xfrm>
            <a:off x="6398692" y="4024940"/>
            <a:ext cx="3300127" cy="12699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vi-VN" sz="2800" b="1" dirty="0">
                <a:latin typeface="Times New Roman" panose="02020603050405020304" pitchFamily="18" charset="0"/>
                <a:cs typeface="Times New Roman" panose="02020603050405020304" pitchFamily="18" charset="0"/>
              </a:rPr>
              <a:t>4, </a:t>
            </a:r>
            <a:r>
              <a:rPr lang="en-VN" sz="2800" b="1" dirty="0">
                <a:latin typeface="Times New Roman" panose="02020603050405020304" pitchFamily="18" charset="0"/>
                <a:cs typeface="Times New Roman" panose="02020603050405020304" pitchFamily="18" charset="0"/>
              </a:rPr>
              <a:t>Phân tích dữ liệu bằng SQL</a:t>
            </a:r>
          </a:p>
          <a:p>
            <a:pPr algn="ctr"/>
            <a:endParaRPr lang="vi-VN" sz="2800" b="1" dirty="0">
              <a:latin typeface="Times New Roman" panose="02020603050405020304" pitchFamily="18" charset="0"/>
              <a:cs typeface="Times New Roman" panose="02020603050405020304" pitchFamily="18" charset="0"/>
            </a:endParaRPr>
          </a:p>
        </p:txBody>
      </p:sp>
      <p:sp>
        <p:nvSpPr>
          <p:cNvPr id="13" name="Rectangle: Rounded Corners 6">
            <a:extLst>
              <a:ext uri="{FF2B5EF4-FFF2-40B4-BE49-F238E27FC236}">
                <a16:creationId xmlns:a16="http://schemas.microsoft.com/office/drawing/2014/main" id="{BC09B168-D2BD-EFC2-D238-B81B695FCE66}"/>
              </a:ext>
            </a:extLst>
          </p:cNvPr>
          <p:cNvSpPr/>
          <p:nvPr/>
        </p:nvSpPr>
        <p:spPr>
          <a:xfrm>
            <a:off x="1837909" y="4024940"/>
            <a:ext cx="3257201" cy="1269903"/>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vi-VN" sz="2800" b="1" dirty="0">
                <a:latin typeface="Times New Roman" panose="02020603050405020304" pitchFamily="18" charset="0"/>
                <a:cs typeface="Times New Roman" panose="02020603050405020304" pitchFamily="18" charset="0"/>
              </a:rPr>
              <a:t>3, </a:t>
            </a:r>
            <a:r>
              <a:rPr lang="en-VN" sz="2800" b="1" dirty="0">
                <a:latin typeface="Times New Roman" panose="02020603050405020304" pitchFamily="18" charset="0"/>
                <a:cs typeface="Times New Roman" panose="02020603050405020304" pitchFamily="18" charset="0"/>
              </a:rPr>
              <a:t>Lưu dữ liệu vào MySQL</a:t>
            </a:r>
          </a:p>
          <a:p>
            <a:pPr algn="ctr"/>
            <a:endParaRPr lang="en-VN" sz="2800" b="1" dirty="0">
              <a:latin typeface="Times New Roman" panose="02020603050405020304" pitchFamily="18" charset="0"/>
              <a:cs typeface="Times New Roman" panose="02020603050405020304" pitchFamily="18" charset="0"/>
            </a:endParaRPr>
          </a:p>
        </p:txBody>
      </p:sp>
      <p:sp>
        <p:nvSpPr>
          <p:cNvPr id="14" name="Rectangle: Rounded Corners 6">
            <a:extLst>
              <a:ext uri="{FF2B5EF4-FFF2-40B4-BE49-F238E27FC236}">
                <a16:creationId xmlns:a16="http://schemas.microsoft.com/office/drawing/2014/main" id="{556C9B58-997F-A4B8-C754-4274875B85D2}"/>
              </a:ext>
            </a:extLst>
          </p:cNvPr>
          <p:cNvSpPr/>
          <p:nvPr/>
        </p:nvSpPr>
        <p:spPr>
          <a:xfrm>
            <a:off x="6398689" y="2159096"/>
            <a:ext cx="3300130" cy="12699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vi-VN" sz="2800" b="1" dirty="0">
                <a:latin typeface="Times New Roman" panose="02020603050405020304" pitchFamily="18" charset="0"/>
                <a:cs typeface="Times New Roman" panose="02020603050405020304" pitchFamily="18" charset="0"/>
              </a:rPr>
              <a:t>2, </a:t>
            </a:r>
            <a:r>
              <a:rPr lang="en-VN" sz="2800" b="1" dirty="0">
                <a:latin typeface="Times New Roman" panose="02020603050405020304" pitchFamily="18" charset="0"/>
                <a:cs typeface="Times New Roman" panose="02020603050405020304" pitchFamily="18" charset="0"/>
              </a:rPr>
              <a:t>Thực hiện ETL pipeline</a:t>
            </a:r>
          </a:p>
          <a:p>
            <a:pPr algn="ctr"/>
            <a:endParaRPr lang="vi-VN" sz="2800" b="1" dirty="0">
              <a:latin typeface="Times New Roman" panose="02020603050405020304" pitchFamily="18" charset="0"/>
              <a:cs typeface="Times New Roman" panose="02020603050405020304" pitchFamily="18" charset="0"/>
            </a:endParaRPr>
          </a:p>
        </p:txBody>
      </p:sp>
      <p:sp>
        <p:nvSpPr>
          <p:cNvPr id="15" name="Rectangle: Rounded Corners 6">
            <a:extLst>
              <a:ext uri="{FF2B5EF4-FFF2-40B4-BE49-F238E27FC236}">
                <a16:creationId xmlns:a16="http://schemas.microsoft.com/office/drawing/2014/main" id="{80D3AD0A-E46D-79B5-11E3-822076AD70D3}"/>
              </a:ext>
            </a:extLst>
          </p:cNvPr>
          <p:cNvSpPr/>
          <p:nvPr/>
        </p:nvSpPr>
        <p:spPr>
          <a:xfrm>
            <a:off x="1837909" y="2147207"/>
            <a:ext cx="3300130" cy="12699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vi-VN" sz="2800" b="1" dirty="0">
                <a:latin typeface="Times New Roman" panose="02020603050405020304" pitchFamily="18" charset="0"/>
                <a:cs typeface="Times New Roman" panose="02020603050405020304" pitchFamily="18" charset="0"/>
              </a:rPr>
              <a:t>1,</a:t>
            </a:r>
            <a:r>
              <a:rPr lang="en-VN" sz="2800" b="1" dirty="0">
                <a:latin typeface="Times New Roman" panose="02020603050405020304" pitchFamily="18" charset="0"/>
                <a:cs typeface="Times New Roman" panose="02020603050405020304" pitchFamily="18" charset="0"/>
              </a:rPr>
              <a:t>Xử lý dữ liệu lớn bằng PySpark</a:t>
            </a:r>
            <a:br>
              <a:rPr lang="en-VN"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2156444"/>
      </p:ext>
    </p:extLst>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arn(inVertic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arn(inVertical)">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3"/>
          <p:cNvSpPr>
            <a:spLocks noGrp="1"/>
          </p:cNvSpPr>
          <p:nvPr>
            <p:ph type="ftr" sz="quarter" idx="11"/>
          </p:nvPr>
        </p:nvSpPr>
        <p:spPr>
          <a:xfrm>
            <a:off x="4038600" y="6356354"/>
            <a:ext cx="4114800" cy="365125"/>
          </a:xfrm>
        </p:spPr>
        <p:txBody>
          <a:bodyPr/>
          <a:lstStyle/>
          <a:p>
            <a:r>
              <a:rPr lang="en-GB" dirty="0">
                <a:solidFill>
                  <a:schemeClr val="tx1"/>
                </a:solidFill>
                <a:latin typeface="Times New Roman" panose="02020603050405020304" pitchFamily="18" charset="0"/>
                <a:cs typeface="Times New Roman" panose="02020603050405020304" pitchFamily="18" charset="0"/>
              </a:rPr>
              <a:t>KIẾN THỨC - KỸ NĂNG - SÁNG TẠO - HỘI NHẬP</a:t>
            </a:r>
          </a:p>
        </p:txBody>
      </p:sp>
      <p:sp>
        <p:nvSpPr>
          <p:cNvPr id="4" name="Title 1">
            <a:extLst>
              <a:ext uri="{FF2B5EF4-FFF2-40B4-BE49-F238E27FC236}">
                <a16:creationId xmlns:a16="http://schemas.microsoft.com/office/drawing/2014/main" id="{E2201068-A90E-1D2E-4ADF-684AF12CF76E}"/>
              </a:ext>
            </a:extLst>
          </p:cNvPr>
          <p:cNvSpPr txBox="1">
            <a:spLocks/>
          </p:cNvSpPr>
          <p:nvPr/>
        </p:nvSpPr>
        <p:spPr>
          <a:xfrm>
            <a:off x="390404" y="894670"/>
            <a:ext cx="10515600" cy="76741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kern="1200">
                <a:solidFill>
                  <a:srgbClr val="C00000"/>
                </a:solidFill>
                <a:latin typeface="Segoe UI Black" panose="020B0A02040204020203" pitchFamily="34" charset="0"/>
                <a:ea typeface="Segoe UI Black" panose="020B0A02040204020203" pitchFamily="34" charset="0"/>
                <a:cs typeface="Times New Roman" panose="02020603050405020304" pitchFamily="18" charset="0"/>
              </a:defRPr>
            </a:lvl1pPr>
          </a:lstStyle>
          <a:p>
            <a:pPr algn="l"/>
            <a:r>
              <a:rPr lang="en-US" sz="3200" dirty="0"/>
              <a:t>2, CÔNG NGHỆ SỬ DỤNG</a:t>
            </a:r>
          </a:p>
        </p:txBody>
      </p:sp>
      <p:graphicFrame>
        <p:nvGraphicFramePr>
          <p:cNvPr id="2" name="Table 1">
            <a:extLst>
              <a:ext uri="{FF2B5EF4-FFF2-40B4-BE49-F238E27FC236}">
                <a16:creationId xmlns:a16="http://schemas.microsoft.com/office/drawing/2014/main" id="{3FC5B372-5011-6FE6-42DA-440271B89AFA}"/>
              </a:ext>
            </a:extLst>
          </p:cNvPr>
          <p:cNvGraphicFramePr>
            <a:graphicFrameLocks noGrp="1"/>
          </p:cNvGraphicFramePr>
          <p:nvPr>
            <p:extLst>
              <p:ext uri="{D42A27DB-BD31-4B8C-83A1-F6EECF244321}">
                <p14:modId xmlns:p14="http://schemas.microsoft.com/office/powerpoint/2010/main" val="1952623816"/>
              </p:ext>
            </p:extLst>
          </p:nvPr>
        </p:nvGraphicFramePr>
        <p:xfrm>
          <a:off x="3675269" y="1905242"/>
          <a:ext cx="8185428" cy="3657600"/>
        </p:xfrm>
        <a:graphic>
          <a:graphicData uri="http://schemas.openxmlformats.org/drawingml/2006/table">
            <a:tbl>
              <a:tblPr firstRow="1" bandRow="1">
                <a:tableStyleId>{1FECB4D8-DB02-4DC6-A0A2-4F2EBAE1DC90}</a:tableStyleId>
              </a:tblPr>
              <a:tblGrid>
                <a:gridCol w="4092714">
                  <a:extLst>
                    <a:ext uri="{9D8B030D-6E8A-4147-A177-3AD203B41FA5}">
                      <a16:colId xmlns:a16="http://schemas.microsoft.com/office/drawing/2014/main" val="2833560704"/>
                    </a:ext>
                  </a:extLst>
                </a:gridCol>
                <a:gridCol w="4092714">
                  <a:extLst>
                    <a:ext uri="{9D8B030D-6E8A-4147-A177-3AD203B41FA5}">
                      <a16:colId xmlns:a16="http://schemas.microsoft.com/office/drawing/2014/main" val="773004927"/>
                    </a:ext>
                  </a:extLst>
                </a:gridCol>
              </a:tblGrid>
              <a:tr h="409658">
                <a:tc>
                  <a:txBody>
                    <a:bodyPr/>
                    <a:lstStyle/>
                    <a:p>
                      <a:pPr>
                        <a:buNone/>
                      </a:pPr>
                      <a:r>
                        <a:rPr lang="en-VN" sz="2400" dirty="0"/>
                        <a:t>Công nghệ</a:t>
                      </a:r>
                      <a:endParaRPr lang="en-VN" sz="2400" dirty="0">
                        <a:latin typeface="Times New Roman" panose="02020603050405020304" pitchFamily="18" charset="0"/>
                        <a:cs typeface="Times New Roman" panose="02020603050405020304" pitchFamily="18" charset="0"/>
                      </a:endParaRPr>
                    </a:p>
                  </a:txBody>
                  <a:tcPr anchor="ctr"/>
                </a:tc>
                <a:tc>
                  <a:txBody>
                    <a:bodyPr/>
                    <a:lstStyle/>
                    <a:p>
                      <a:pPr>
                        <a:buNone/>
                      </a:pPr>
                      <a:r>
                        <a:rPr lang="en-VN" sz="2400" dirty="0"/>
                        <a:t>Mục đích</a:t>
                      </a:r>
                      <a:endParaRPr lang="en-V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78897933"/>
                  </a:ext>
                </a:extLst>
              </a:tr>
              <a:tr h="446312">
                <a:tc>
                  <a:txBody>
                    <a:bodyPr/>
                    <a:lstStyle/>
                    <a:p>
                      <a:pPr>
                        <a:buNone/>
                      </a:pPr>
                      <a:r>
                        <a:rPr lang="en-VN" sz="2400" dirty="0"/>
                        <a:t>Python</a:t>
                      </a:r>
                      <a:endParaRPr lang="en-VN" sz="2400" dirty="0">
                        <a:latin typeface="Times New Roman" panose="02020603050405020304" pitchFamily="18" charset="0"/>
                        <a:cs typeface="Times New Roman" panose="02020603050405020304" pitchFamily="18" charset="0"/>
                      </a:endParaRPr>
                    </a:p>
                  </a:txBody>
                  <a:tcPr anchor="ctr"/>
                </a:tc>
                <a:tc>
                  <a:txBody>
                    <a:bodyPr/>
                    <a:lstStyle/>
                    <a:p>
                      <a:pPr>
                        <a:buNone/>
                      </a:pPr>
                      <a:r>
                        <a:rPr lang="en-VN" sz="2400"/>
                        <a:t>Viết ETL pipeline</a:t>
                      </a:r>
                      <a:endParaRPr lang="en-VN" sz="2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66573770"/>
                  </a:ext>
                </a:extLst>
              </a:tr>
              <a:tr h="446312">
                <a:tc>
                  <a:txBody>
                    <a:bodyPr/>
                    <a:lstStyle/>
                    <a:p>
                      <a:pPr>
                        <a:buNone/>
                      </a:pPr>
                      <a:r>
                        <a:rPr lang="en-VN" sz="2400"/>
                        <a:t>PySpark</a:t>
                      </a:r>
                      <a:endParaRPr lang="en-VN" sz="2400">
                        <a:latin typeface="Times New Roman" panose="02020603050405020304" pitchFamily="18" charset="0"/>
                        <a:cs typeface="Times New Roman" panose="02020603050405020304" pitchFamily="18" charset="0"/>
                      </a:endParaRPr>
                    </a:p>
                  </a:txBody>
                  <a:tcPr anchor="ctr"/>
                </a:tc>
                <a:tc>
                  <a:txBody>
                    <a:bodyPr/>
                    <a:lstStyle/>
                    <a:p>
                      <a:pPr>
                        <a:buNone/>
                      </a:pPr>
                      <a:r>
                        <a:rPr lang="en-VN" sz="2400"/>
                        <a:t>Xử lý dữ liệu lớn</a:t>
                      </a:r>
                      <a:endParaRPr lang="en-VN" sz="2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30594450"/>
                  </a:ext>
                </a:extLst>
              </a:tr>
              <a:tr h="446312">
                <a:tc>
                  <a:txBody>
                    <a:bodyPr/>
                    <a:lstStyle/>
                    <a:p>
                      <a:pPr>
                        <a:buNone/>
                      </a:pPr>
                      <a:r>
                        <a:rPr lang="en-VN" sz="2400"/>
                        <a:t>MySQL</a:t>
                      </a:r>
                      <a:endParaRPr lang="en-VN" sz="2400">
                        <a:latin typeface="Times New Roman" panose="02020603050405020304" pitchFamily="18" charset="0"/>
                        <a:cs typeface="Times New Roman" panose="02020603050405020304" pitchFamily="18" charset="0"/>
                      </a:endParaRPr>
                    </a:p>
                  </a:txBody>
                  <a:tcPr anchor="ctr"/>
                </a:tc>
                <a:tc>
                  <a:txBody>
                    <a:bodyPr/>
                    <a:lstStyle/>
                    <a:p>
                      <a:pPr>
                        <a:buNone/>
                      </a:pPr>
                      <a:r>
                        <a:rPr lang="en-VN" sz="2400"/>
                        <a:t>Lưu trữ dữ liệu</a:t>
                      </a:r>
                      <a:endParaRPr lang="en-VN" sz="2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23575955"/>
                  </a:ext>
                </a:extLst>
              </a:tr>
              <a:tr h="446312">
                <a:tc>
                  <a:txBody>
                    <a:bodyPr/>
                    <a:lstStyle/>
                    <a:p>
                      <a:pPr>
                        <a:buNone/>
                      </a:pPr>
                      <a:r>
                        <a:rPr lang="en-VN" sz="2400"/>
                        <a:t>JDBC</a:t>
                      </a:r>
                      <a:endParaRPr lang="en-VN" sz="2400">
                        <a:latin typeface="Times New Roman" panose="02020603050405020304" pitchFamily="18" charset="0"/>
                        <a:cs typeface="Times New Roman" panose="02020603050405020304" pitchFamily="18" charset="0"/>
                      </a:endParaRPr>
                    </a:p>
                  </a:txBody>
                  <a:tcPr anchor="ctr"/>
                </a:tc>
                <a:tc>
                  <a:txBody>
                    <a:bodyPr/>
                    <a:lstStyle/>
                    <a:p>
                      <a:pPr>
                        <a:buNone/>
                      </a:pPr>
                      <a:r>
                        <a:rPr lang="en-VN" sz="2400"/>
                        <a:t>Kết nối Spark ↔ MySQL</a:t>
                      </a:r>
                      <a:endParaRPr lang="en-VN" sz="2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19345316"/>
                  </a:ext>
                </a:extLst>
              </a:tr>
              <a:tr h="446312">
                <a:tc>
                  <a:txBody>
                    <a:bodyPr/>
                    <a:lstStyle/>
                    <a:p>
                      <a:pPr>
                        <a:buNone/>
                      </a:pPr>
                      <a:r>
                        <a:rPr lang="en-VN" sz="2400"/>
                        <a:t>SQL</a:t>
                      </a:r>
                      <a:endParaRPr lang="en-VN" sz="2400">
                        <a:latin typeface="Times New Roman" panose="02020603050405020304" pitchFamily="18" charset="0"/>
                        <a:cs typeface="Times New Roman" panose="02020603050405020304" pitchFamily="18" charset="0"/>
                      </a:endParaRPr>
                    </a:p>
                  </a:txBody>
                  <a:tcPr anchor="ctr"/>
                </a:tc>
                <a:tc>
                  <a:txBody>
                    <a:bodyPr/>
                    <a:lstStyle/>
                    <a:p>
                      <a:pPr>
                        <a:buNone/>
                      </a:pPr>
                      <a:r>
                        <a:rPr lang="en-VN" sz="2400"/>
                        <a:t>Phân tích dữ liệu</a:t>
                      </a:r>
                      <a:endParaRPr lang="en-VN" sz="2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39398800"/>
                  </a:ext>
                </a:extLst>
              </a:tr>
              <a:tr h="446312">
                <a:tc>
                  <a:txBody>
                    <a:bodyPr/>
                    <a:lstStyle/>
                    <a:p>
                      <a:pPr>
                        <a:buNone/>
                      </a:pPr>
                      <a:r>
                        <a:rPr lang="en-VN" sz="2400"/>
                        <a:t>VSCode</a:t>
                      </a:r>
                      <a:endParaRPr lang="en-VN" sz="2400">
                        <a:latin typeface="Times New Roman" panose="02020603050405020304" pitchFamily="18" charset="0"/>
                        <a:cs typeface="Times New Roman" panose="02020603050405020304" pitchFamily="18" charset="0"/>
                      </a:endParaRPr>
                    </a:p>
                  </a:txBody>
                  <a:tcPr anchor="ctr"/>
                </a:tc>
                <a:tc>
                  <a:txBody>
                    <a:bodyPr/>
                    <a:lstStyle/>
                    <a:p>
                      <a:pPr>
                        <a:buNone/>
                      </a:pPr>
                      <a:r>
                        <a:rPr lang="en-VN" sz="2400"/>
                        <a:t>Development</a:t>
                      </a:r>
                      <a:endParaRPr lang="en-VN" sz="2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16489258"/>
                  </a:ext>
                </a:extLst>
              </a:tr>
              <a:tr h="446312">
                <a:tc>
                  <a:txBody>
                    <a:bodyPr/>
                    <a:lstStyle/>
                    <a:p>
                      <a:pPr>
                        <a:buNone/>
                      </a:pPr>
                      <a:r>
                        <a:rPr lang="en-VN" sz="2400"/>
                        <a:t>macOS</a:t>
                      </a:r>
                      <a:endParaRPr lang="en-VN" sz="2400">
                        <a:latin typeface="Times New Roman" panose="02020603050405020304" pitchFamily="18" charset="0"/>
                        <a:cs typeface="Times New Roman" panose="02020603050405020304" pitchFamily="18" charset="0"/>
                      </a:endParaRPr>
                    </a:p>
                  </a:txBody>
                  <a:tcPr anchor="ctr"/>
                </a:tc>
                <a:tc>
                  <a:txBody>
                    <a:bodyPr/>
                    <a:lstStyle/>
                    <a:p>
                      <a:pPr>
                        <a:buNone/>
                      </a:pPr>
                      <a:r>
                        <a:rPr lang="en-VN" sz="2400" dirty="0"/>
                        <a:t>Environment</a:t>
                      </a:r>
                      <a:endParaRPr lang="en-V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34176310"/>
                  </a:ext>
                </a:extLst>
              </a:tr>
            </a:tbl>
          </a:graphicData>
        </a:graphic>
      </p:graphicFrame>
      <p:pic>
        <p:nvPicPr>
          <p:cNvPr id="7" name="Picture 6">
            <a:extLst>
              <a:ext uri="{FF2B5EF4-FFF2-40B4-BE49-F238E27FC236}">
                <a16:creationId xmlns:a16="http://schemas.microsoft.com/office/drawing/2014/main" id="{04E9CB71-EE73-DAA4-4FAE-DBF5372455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980" y="1662080"/>
            <a:ext cx="3187976" cy="2071962"/>
          </a:xfrm>
          <a:prstGeom prst="rect">
            <a:avLst/>
          </a:prstGeom>
        </p:spPr>
      </p:pic>
      <p:pic>
        <p:nvPicPr>
          <p:cNvPr id="11" name="Picture 10">
            <a:extLst>
              <a:ext uri="{FF2B5EF4-FFF2-40B4-BE49-F238E27FC236}">
                <a16:creationId xmlns:a16="http://schemas.microsoft.com/office/drawing/2014/main" id="{52F76693-9F7E-4C64-1258-69E8961972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980" y="4184616"/>
            <a:ext cx="3104301" cy="1108392"/>
          </a:xfrm>
          <a:prstGeom prst="rect">
            <a:avLst/>
          </a:prstGeom>
        </p:spPr>
      </p:pic>
    </p:spTree>
  </p:cSld>
  <p:clrMapOvr>
    <a:masterClrMapping/>
  </p:clrMapOvr>
  <p:transition spd="med">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9E0BBC2-331D-455A-8F34-6CACAAA7B272}" type="datetime1">
              <a:rPr lang="en-GB" smtClean="0"/>
              <a:t>16/05/2026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4</a:t>
            </a:fld>
            <a:endParaRPr lang="en-GB"/>
          </a:p>
        </p:txBody>
      </p:sp>
      <p:sp>
        <p:nvSpPr>
          <p:cNvPr id="2" name="Title 1">
            <a:extLst>
              <a:ext uri="{FF2B5EF4-FFF2-40B4-BE49-F238E27FC236}">
                <a16:creationId xmlns:a16="http://schemas.microsoft.com/office/drawing/2014/main" id="{190C660A-A9A3-5FEF-BEA0-81C0EEF25F22}"/>
              </a:ext>
            </a:extLst>
          </p:cNvPr>
          <p:cNvSpPr>
            <a:spLocks noGrp="1"/>
          </p:cNvSpPr>
          <p:nvPr>
            <p:ph type="title"/>
          </p:nvPr>
        </p:nvSpPr>
        <p:spPr>
          <a:xfrm>
            <a:off x="409937" y="1200130"/>
            <a:ext cx="10515600" cy="767410"/>
          </a:xfrm>
        </p:spPr>
        <p:txBody>
          <a:bodyPr>
            <a:noAutofit/>
          </a:bodyPr>
          <a:lstStyle/>
          <a:p>
            <a:r>
              <a:rPr lang="en-VN" b="1" dirty="0"/>
              <a:t>3. Dataset</a:t>
            </a:r>
          </a:p>
        </p:txBody>
      </p:sp>
      <p:pic>
        <p:nvPicPr>
          <p:cNvPr id="8" name="Picture 7">
            <a:extLst>
              <a:ext uri="{FF2B5EF4-FFF2-40B4-BE49-F238E27FC236}">
                <a16:creationId xmlns:a16="http://schemas.microsoft.com/office/drawing/2014/main" id="{3C826BAB-A69F-B5B3-DFBC-B1F559433357}"/>
              </a:ext>
            </a:extLst>
          </p:cNvPr>
          <p:cNvPicPr>
            <a:picLocks noChangeAspect="1"/>
          </p:cNvPicPr>
          <p:nvPr/>
        </p:nvPicPr>
        <p:blipFill>
          <a:blip r:embed="rId2"/>
          <a:stretch>
            <a:fillRect/>
          </a:stretch>
        </p:blipFill>
        <p:spPr>
          <a:xfrm>
            <a:off x="4038600" y="1716056"/>
            <a:ext cx="7772400" cy="3611418"/>
          </a:xfrm>
          <a:prstGeom prst="rect">
            <a:avLst/>
          </a:prstGeom>
        </p:spPr>
      </p:pic>
      <p:sp>
        <p:nvSpPr>
          <p:cNvPr id="10" name="TextBox 9">
            <a:extLst>
              <a:ext uri="{FF2B5EF4-FFF2-40B4-BE49-F238E27FC236}">
                <a16:creationId xmlns:a16="http://schemas.microsoft.com/office/drawing/2014/main" id="{01735C40-FFEE-6CD1-464B-D6C8B4D757F8}"/>
              </a:ext>
            </a:extLst>
          </p:cNvPr>
          <p:cNvSpPr txBox="1"/>
          <p:nvPr/>
        </p:nvSpPr>
        <p:spPr>
          <a:xfrm>
            <a:off x="557809" y="2336872"/>
            <a:ext cx="2127505" cy="1754326"/>
          </a:xfrm>
          <a:prstGeom prst="rect">
            <a:avLst/>
          </a:prstGeom>
          <a:noFill/>
        </p:spPr>
        <p:txBody>
          <a:bodyPr wrap="none" rtlCol="0">
            <a:spAutoFit/>
          </a:bodyPr>
          <a:lstStyle/>
          <a:p>
            <a:pPr marL="285750" indent="-285750">
              <a:buFont typeface="Wingdings" pitchFamily="2" charset="2"/>
              <a:buChar char="v"/>
            </a:pPr>
            <a:r>
              <a:rPr lang="en-VN" b="1" dirty="0">
                <a:latin typeface="Times New Roman" panose="02020603050405020304" pitchFamily="18" charset="0"/>
                <a:cs typeface="Times New Roman" panose="02020603050405020304" pitchFamily="18" charset="0"/>
              </a:rPr>
              <a:t>Các cột chính:</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product_category</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star_rating</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review_body</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verified_purchase</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review_date</a:t>
            </a:r>
          </a:p>
        </p:txBody>
      </p:sp>
      <p:sp>
        <p:nvSpPr>
          <p:cNvPr id="13" name="TextBox 12">
            <a:extLst>
              <a:ext uri="{FF2B5EF4-FFF2-40B4-BE49-F238E27FC236}">
                <a16:creationId xmlns:a16="http://schemas.microsoft.com/office/drawing/2014/main" id="{6AE77806-7E39-283E-6DD9-E25A2ABC7271}"/>
              </a:ext>
            </a:extLst>
          </p:cNvPr>
          <p:cNvSpPr txBox="1"/>
          <p:nvPr/>
        </p:nvSpPr>
        <p:spPr>
          <a:xfrm>
            <a:off x="557809" y="1967540"/>
            <a:ext cx="3303981"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Dataset:</a:t>
            </a:r>
            <a:r>
              <a:rPr lang="en-VN" dirty="0">
                <a:latin typeface="Times New Roman" panose="02020603050405020304" pitchFamily="18" charset="0"/>
                <a:cs typeface="Times New Roman" panose="02020603050405020304" pitchFamily="18" charset="0"/>
              </a:rPr>
              <a:t>Amazon Reviews Dataset</a:t>
            </a:r>
          </a:p>
        </p:txBody>
      </p:sp>
      <p:pic>
        <p:nvPicPr>
          <p:cNvPr id="15" name="Picture 14">
            <a:extLst>
              <a:ext uri="{FF2B5EF4-FFF2-40B4-BE49-F238E27FC236}">
                <a16:creationId xmlns:a16="http://schemas.microsoft.com/office/drawing/2014/main" id="{53B5D9B6-76F8-0821-E4D1-07BE8F8108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769" y="4193109"/>
            <a:ext cx="1587500" cy="406400"/>
          </a:xfrm>
          <a:prstGeom prst="rect">
            <a:avLst/>
          </a:prstGeom>
        </p:spPr>
      </p:pic>
      <p:sp>
        <p:nvSpPr>
          <p:cNvPr id="16" name="TextBox 15">
            <a:extLst>
              <a:ext uri="{FF2B5EF4-FFF2-40B4-BE49-F238E27FC236}">
                <a16:creationId xmlns:a16="http://schemas.microsoft.com/office/drawing/2014/main" id="{805CE454-DA80-9698-2A96-34EE0C4022F9}"/>
              </a:ext>
            </a:extLst>
          </p:cNvPr>
          <p:cNvSpPr txBox="1"/>
          <p:nvPr/>
        </p:nvSpPr>
        <p:spPr>
          <a:xfrm>
            <a:off x="636769" y="4607703"/>
            <a:ext cx="2428870" cy="646331"/>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t>
            </a:r>
            <a:r>
              <a:rPr lang="en-VN" dirty="0">
                <a:latin typeface="Times New Roman" panose="02020603050405020304" pitchFamily="18" charset="0"/>
                <a:cs typeface="Times New Roman" panose="02020603050405020304" pitchFamily="18" charset="0"/>
              </a:rPr>
              <a:t>ới tổng data là hơn </a:t>
            </a:r>
          </a:p>
          <a:p>
            <a:r>
              <a:rPr lang="en-VN" dirty="0">
                <a:latin typeface="Times New Roman" panose="02020603050405020304" pitchFamily="18" charset="0"/>
                <a:cs typeface="Times New Roman" panose="02020603050405020304" pitchFamily="18" charset="0"/>
              </a:rPr>
              <a:t>6 triệu value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D6E4C04-0339-41CF-80F5-B86DDA6A07FF}"/>
              </a:ext>
            </a:extLst>
          </p:cNvPr>
          <p:cNvSpPr>
            <a:spLocks noGrp="1"/>
          </p:cNvSpPr>
          <p:nvPr>
            <p:ph type="dt" sz="half" idx="10"/>
          </p:nvPr>
        </p:nvSpPr>
        <p:spPr/>
        <p:txBody>
          <a:bodyPr/>
          <a:lstStyle/>
          <a:p>
            <a:fld id="{19E0BBC2-331D-455A-8F34-6CACAAA7B272}" type="datetime1">
              <a:rPr lang="en-GB" smtClean="0"/>
              <a:t>16/05/2026</a:t>
            </a:fld>
            <a:endParaRPr lang="en-GB"/>
          </a:p>
        </p:txBody>
      </p:sp>
      <p:sp>
        <p:nvSpPr>
          <p:cNvPr id="5" name="Footer Placeholder 4">
            <a:extLst>
              <a:ext uri="{FF2B5EF4-FFF2-40B4-BE49-F238E27FC236}">
                <a16:creationId xmlns:a16="http://schemas.microsoft.com/office/drawing/2014/main" id="{8F2FB188-327E-4214-8F7C-0AA0F4DE89B7}"/>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ADFB6DE4-08C2-4810-B30F-59B5F21AE637}"/>
              </a:ext>
            </a:extLst>
          </p:cNvPr>
          <p:cNvSpPr>
            <a:spLocks noGrp="1"/>
          </p:cNvSpPr>
          <p:nvPr>
            <p:ph type="sldNum" sz="quarter" idx="12"/>
          </p:nvPr>
        </p:nvSpPr>
        <p:spPr/>
        <p:txBody>
          <a:bodyPr/>
          <a:lstStyle/>
          <a:p>
            <a:fld id="{AA3D6EC1-CEF0-44B9-AC69-1554EEB371D5}" type="slidenum">
              <a:rPr lang="en-GB" smtClean="0"/>
              <a:t>5</a:t>
            </a:fld>
            <a:endParaRPr lang="en-GB"/>
          </a:p>
        </p:txBody>
      </p:sp>
      <p:sp>
        <p:nvSpPr>
          <p:cNvPr id="7" name="TextBox 6">
            <a:extLst>
              <a:ext uri="{FF2B5EF4-FFF2-40B4-BE49-F238E27FC236}">
                <a16:creationId xmlns:a16="http://schemas.microsoft.com/office/drawing/2014/main" id="{C761DA87-9818-41B1-8E5F-A662C71401A2}"/>
              </a:ext>
            </a:extLst>
          </p:cNvPr>
          <p:cNvSpPr txBox="1"/>
          <p:nvPr/>
        </p:nvSpPr>
        <p:spPr>
          <a:xfrm>
            <a:off x="993316" y="1203803"/>
            <a:ext cx="4519209" cy="523220"/>
          </a:xfrm>
          <a:prstGeom prst="rect">
            <a:avLst/>
          </a:prstGeom>
          <a:noFill/>
        </p:spPr>
        <p:txBody>
          <a:bodyPr wrap="square" rtlCol="0">
            <a:spAutoFit/>
          </a:bodyPr>
          <a:lstStyle/>
          <a:p>
            <a:r>
              <a:rPr lang="en-VN" sz="2800" b="1" dirty="0">
                <a:latin typeface="Times New Roman" panose="02020603050405020304" pitchFamily="18" charset="0"/>
                <a:cs typeface="Times New Roman" panose="02020603050405020304" pitchFamily="18" charset="0"/>
              </a:rPr>
              <a:t>Architecture Diagram</a:t>
            </a:r>
          </a:p>
        </p:txBody>
      </p:sp>
      <p:sp>
        <p:nvSpPr>
          <p:cNvPr id="10" name="TextBox 9">
            <a:extLst>
              <a:ext uri="{FF2B5EF4-FFF2-40B4-BE49-F238E27FC236}">
                <a16:creationId xmlns:a16="http://schemas.microsoft.com/office/drawing/2014/main" id="{BE8D278C-4664-4A85-917F-CECC9C3AB884}"/>
              </a:ext>
            </a:extLst>
          </p:cNvPr>
          <p:cNvSpPr txBox="1"/>
          <p:nvPr/>
        </p:nvSpPr>
        <p:spPr>
          <a:xfrm>
            <a:off x="5647195" y="1465413"/>
            <a:ext cx="6217921" cy="5663089"/>
          </a:xfrm>
          <a:prstGeom prst="rect">
            <a:avLst/>
          </a:prstGeom>
          <a:noFill/>
        </p:spPr>
        <p:txBody>
          <a:bodyPr wrap="square" rtlCol="0">
            <a:spAutoFit/>
          </a:bodyPr>
          <a:lstStyle/>
          <a:p>
            <a:r>
              <a:rPr lang="en-VN" b="1" dirty="0">
                <a:latin typeface="Times New Roman" panose="02020603050405020304" pitchFamily="18" charset="0"/>
                <a:cs typeface="Times New Roman" panose="02020603050405020304" pitchFamily="18" charset="0"/>
              </a:rPr>
              <a:t>1. Raw TSV File</a:t>
            </a:r>
          </a:p>
          <a:p>
            <a:r>
              <a:rPr lang="en-VN" dirty="0">
                <a:latin typeface="Times New Roman" panose="02020603050405020304" pitchFamily="18" charset="0"/>
                <a:cs typeface="Times New Roman" panose="02020603050405020304" pitchFamily="18" charset="0"/>
              </a:rPr>
              <a:t>     Dataset Amazon Reviews ở định dạng TSV</a:t>
            </a:r>
          </a:p>
          <a:p>
            <a:r>
              <a:rPr lang="en-VN" dirty="0">
                <a:latin typeface="Times New Roman" panose="02020603050405020304" pitchFamily="18" charset="0"/>
                <a:cs typeface="Times New Roman" panose="02020603050405020304" pitchFamily="18" charset="0"/>
              </a:rPr>
              <a:t>     Chứa hàng triệu bản ghi review</a:t>
            </a:r>
          </a:p>
          <a:p>
            <a:r>
              <a:rPr lang="en-VN" b="1" dirty="0">
                <a:latin typeface="Times New Roman" panose="02020603050405020304" pitchFamily="18" charset="0"/>
                <a:cs typeface="Times New Roman" panose="02020603050405020304" pitchFamily="18" charset="0"/>
              </a:rPr>
              <a:t>2. PySpark ETL</a:t>
            </a:r>
          </a:p>
          <a:p>
            <a:r>
              <a:rPr lang="en-VN" b="1" dirty="0">
                <a:latin typeface="Times New Roman" panose="02020603050405020304" pitchFamily="18" charset="0"/>
                <a:cs typeface="Times New Roman" panose="02020603050405020304" pitchFamily="18" charset="0"/>
              </a:rPr>
              <a:t>Extract</a:t>
            </a:r>
            <a:r>
              <a:rPr lang="en-VN" dirty="0">
                <a:latin typeface="Times New Roman" panose="02020603050405020304" pitchFamily="18" charset="0"/>
                <a:cs typeface="Times New Roman" panose="02020603050405020304" pitchFamily="18" charset="0"/>
              </a:rPr>
              <a:t>: đọc file TSV</a:t>
            </a:r>
          </a:p>
          <a:p>
            <a:r>
              <a:rPr lang="en-VN" b="1" dirty="0">
                <a:latin typeface="Times New Roman" panose="02020603050405020304" pitchFamily="18" charset="0"/>
                <a:cs typeface="Times New Roman" panose="02020603050405020304" pitchFamily="18" charset="0"/>
              </a:rPr>
              <a:t>Transform</a:t>
            </a:r>
            <a:r>
              <a:rPr lang="en-VN" dirty="0">
                <a:latin typeface="Times New Roman" panose="02020603050405020304" pitchFamily="18" charset="0"/>
                <a:cs typeface="Times New Roman" panose="02020603050405020304" pitchFamily="18" charset="0"/>
              </a:rPr>
              <a:t>: remove null values</a:t>
            </a:r>
          </a:p>
          <a:p>
            <a:pPr lvl="1"/>
            <a:r>
              <a:rPr lang="en-VN" dirty="0">
                <a:latin typeface="Times New Roman" panose="02020603050405020304" pitchFamily="18" charset="0"/>
                <a:cs typeface="Times New Roman" panose="02020603050405020304" pitchFamily="18" charset="0"/>
              </a:rPr>
              <a:t>            filter rating &gt;= 3</a:t>
            </a:r>
          </a:p>
          <a:p>
            <a:pPr lvl="1"/>
            <a:r>
              <a:rPr lang="en-VN" dirty="0">
                <a:latin typeface="Times New Roman" panose="02020603050405020304" pitchFamily="18" charset="0"/>
                <a:cs typeface="Times New Roman" panose="02020603050405020304" pitchFamily="18" charset="0"/>
              </a:rPr>
              <a:t>            create review_length</a:t>
            </a:r>
          </a:p>
          <a:p>
            <a:r>
              <a:rPr lang="en-VN" b="1" dirty="0">
                <a:latin typeface="Times New Roman" panose="02020603050405020304" pitchFamily="18" charset="0"/>
                <a:cs typeface="Times New Roman" panose="02020603050405020304" pitchFamily="18" charset="0"/>
              </a:rPr>
              <a:t>Load</a:t>
            </a:r>
            <a:r>
              <a:rPr lang="en-VN" dirty="0">
                <a:latin typeface="Times New Roman" panose="02020603050405020304" pitchFamily="18" charset="0"/>
                <a:cs typeface="Times New Roman" panose="02020603050405020304" pitchFamily="18" charset="0"/>
              </a:rPr>
              <a:t>: ghi dữ liệu vào MySQL bằng JDBC</a:t>
            </a:r>
          </a:p>
          <a:p>
            <a:r>
              <a:rPr lang="en-VN" b="1" dirty="0">
                <a:latin typeface="Times New Roman" panose="02020603050405020304" pitchFamily="18" charset="0"/>
                <a:cs typeface="Times New Roman" panose="02020603050405020304" pitchFamily="18" charset="0"/>
              </a:rPr>
              <a:t>3. MySQL Datab ase</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 Lưu trữ dữ liệu sau khi xử lý</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 Tạo bảng reviews_clean</a:t>
            </a:r>
          </a:p>
          <a:p>
            <a:r>
              <a:rPr lang="en-VN" b="1" dirty="0">
                <a:latin typeface="Times New Roman" panose="02020603050405020304" pitchFamily="18" charset="0"/>
                <a:cs typeface="Times New Roman" panose="02020603050405020304" pitchFamily="18" charset="0"/>
              </a:rPr>
              <a:t>4. SQL Analysis</a:t>
            </a:r>
          </a:p>
          <a:p>
            <a:pPr marL="285750" indent="-285750">
              <a:buFont typeface="Arial" panose="020B0604020202020204" pitchFamily="34" charset="0"/>
              <a:buChar char="•"/>
            </a:pPr>
            <a:r>
              <a:rPr lang="en-VN" b="1" dirty="0">
                <a:latin typeface="Times New Roman" panose="02020603050405020304" pitchFamily="18" charset="0"/>
                <a:cs typeface="Times New Roman" panose="02020603050405020304" pitchFamily="18" charset="0"/>
              </a:rPr>
              <a:t>  </a:t>
            </a:r>
            <a:r>
              <a:rPr lang="en-VN" dirty="0">
                <a:latin typeface="Times New Roman" panose="02020603050405020304" pitchFamily="18" charset="0"/>
                <a:cs typeface="Times New Roman" panose="02020603050405020304" pitchFamily="18" charset="0"/>
              </a:rPr>
              <a:t>total reviews</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average rating</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top product categories</a:t>
            </a:r>
          </a:p>
          <a:p>
            <a:pPr marL="285750" indent="-285750">
              <a:buFont typeface="Arial" panose="020B0604020202020204" pitchFamily="34" charset="0"/>
              <a:buChar char="•"/>
            </a:pPr>
            <a:r>
              <a:rPr lang="en-VN" dirty="0">
                <a:latin typeface="Times New Roman" panose="02020603050405020304" pitchFamily="18" charset="0"/>
                <a:cs typeface="Times New Roman" panose="02020603050405020304" pitchFamily="18" charset="0"/>
              </a:rPr>
              <a:t>verified purchase statistics</a:t>
            </a:r>
          </a:p>
          <a:p>
            <a:endParaRPr lang="en-VN" dirty="0">
              <a:latin typeface="Times New Roman" panose="02020603050405020304" pitchFamily="18" charset="0"/>
              <a:cs typeface="Times New Roman" panose="02020603050405020304" pitchFamily="18" charset="0"/>
            </a:endParaRPr>
          </a:p>
          <a:p>
            <a:endParaRPr lang="en-VN"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016F3AB-58E5-831F-BB17-AA2F86CFD4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3064" y="2055579"/>
            <a:ext cx="2823289" cy="3710609"/>
          </a:xfrm>
          <a:prstGeom prst="rect">
            <a:avLst/>
          </a:prstGeom>
        </p:spPr>
      </p:pic>
    </p:spTree>
    <p:extLst>
      <p:ext uri="{BB962C8B-B14F-4D97-AF65-F5344CB8AC3E}">
        <p14:creationId xmlns:p14="http://schemas.microsoft.com/office/powerpoint/2010/main" val="1283927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7B9B923-402E-43A8-BCA4-76705497605C}"/>
              </a:ext>
            </a:extLst>
          </p:cNvPr>
          <p:cNvSpPr>
            <a:spLocks noGrp="1"/>
          </p:cNvSpPr>
          <p:nvPr>
            <p:ph type="dt" sz="half" idx="10"/>
          </p:nvPr>
        </p:nvSpPr>
        <p:spPr/>
        <p:txBody>
          <a:bodyPr/>
          <a:lstStyle/>
          <a:p>
            <a:fld id="{19E0BBC2-331D-455A-8F34-6CACAAA7B272}" type="datetime1">
              <a:rPr lang="en-GB" smtClean="0"/>
              <a:t>16/05/2026</a:t>
            </a:fld>
            <a:endParaRPr lang="en-GB"/>
          </a:p>
        </p:txBody>
      </p:sp>
      <p:sp>
        <p:nvSpPr>
          <p:cNvPr id="5" name="Footer Placeholder 4">
            <a:extLst>
              <a:ext uri="{FF2B5EF4-FFF2-40B4-BE49-F238E27FC236}">
                <a16:creationId xmlns:a16="http://schemas.microsoft.com/office/drawing/2014/main" id="{C796C54B-CF09-4F5D-96D9-C7EA2FFC4A9B}"/>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83A46500-83F8-41FE-BE09-9D46E3BFAF18}"/>
              </a:ext>
            </a:extLst>
          </p:cNvPr>
          <p:cNvSpPr>
            <a:spLocks noGrp="1"/>
          </p:cNvSpPr>
          <p:nvPr>
            <p:ph type="sldNum" sz="quarter" idx="12"/>
          </p:nvPr>
        </p:nvSpPr>
        <p:spPr/>
        <p:txBody>
          <a:bodyPr/>
          <a:lstStyle/>
          <a:p>
            <a:fld id="{AA3D6EC1-CEF0-44B9-AC69-1554EEB371D5}" type="slidenum">
              <a:rPr lang="en-GB" smtClean="0"/>
              <a:t>6</a:t>
            </a:fld>
            <a:endParaRPr lang="en-GB"/>
          </a:p>
        </p:txBody>
      </p:sp>
      <p:sp>
        <p:nvSpPr>
          <p:cNvPr id="10" name="TextBox 9">
            <a:extLst>
              <a:ext uri="{FF2B5EF4-FFF2-40B4-BE49-F238E27FC236}">
                <a16:creationId xmlns:a16="http://schemas.microsoft.com/office/drawing/2014/main" id="{6DE56E3A-DDCB-4B1D-AA60-8C71C2C81E2A}"/>
              </a:ext>
            </a:extLst>
          </p:cNvPr>
          <p:cNvSpPr txBox="1"/>
          <p:nvPr/>
        </p:nvSpPr>
        <p:spPr>
          <a:xfrm>
            <a:off x="5859286" y="1666967"/>
            <a:ext cx="4807670" cy="4191981"/>
          </a:xfrm>
          <a:prstGeom prst="rect">
            <a:avLst/>
          </a:prstGeom>
          <a:noFill/>
        </p:spPr>
        <p:txBody>
          <a:bodyPr wrap="square" rtlCol="0">
            <a:spAutoFit/>
          </a:bodyPr>
          <a:lstStyle/>
          <a:p>
            <a:pPr>
              <a:lnSpc>
                <a:spcPct val="150000"/>
              </a:lnSpc>
            </a:pPr>
            <a:r>
              <a:rPr lang="en-VN" sz="2000" dirty="0">
                <a:latin typeface="Times New Roman" panose="02020603050405020304" pitchFamily="18" charset="0"/>
                <a:cs typeface="Times New Roman" panose="02020603050405020304" pitchFamily="18" charset="0"/>
              </a:rPr>
              <a:t>Đầu tiên, chương trình khởi tạo PySpark và tạo Spark Session để xử lý dữ liệu Big Data. Sau đó, PySpark đọc file dữ liệu Amazon Reviews dạng TSV từ thư mục data/. File được đọc với dấu phân tách là tab (\t), có tiêu đề cột và tự động nhận diện kiểu dữ liệu. Cuối cùng, hệ thống hiển thị 5 dòng đầu tiên để kiểm tra dữ liệu đầu vào trước khi xử lý ETL.</a:t>
            </a:r>
          </a:p>
        </p:txBody>
      </p:sp>
      <p:sp>
        <p:nvSpPr>
          <p:cNvPr id="3" name="Title 1">
            <a:extLst>
              <a:ext uri="{FF2B5EF4-FFF2-40B4-BE49-F238E27FC236}">
                <a16:creationId xmlns:a16="http://schemas.microsoft.com/office/drawing/2014/main" id="{8A3E96C4-4AD3-287C-5344-8B32AA0D6CBF}"/>
              </a:ext>
            </a:extLst>
          </p:cNvPr>
          <p:cNvSpPr>
            <a:spLocks noGrp="1"/>
          </p:cNvSpPr>
          <p:nvPr>
            <p:ph type="title"/>
          </p:nvPr>
        </p:nvSpPr>
        <p:spPr>
          <a:xfrm>
            <a:off x="370181" y="998540"/>
            <a:ext cx="4294585" cy="668427"/>
          </a:xfrm>
        </p:spPr>
        <p:txBody>
          <a:bodyPr>
            <a:noAutofit/>
          </a:bodyPr>
          <a:lstStyle/>
          <a:p>
            <a:r>
              <a:rPr lang="en-VN" b="1" dirty="0"/>
              <a:t>5. ETL Pipeline</a:t>
            </a:r>
            <a:endParaRPr lang="en-US" sz="2800" dirty="0"/>
          </a:p>
        </p:txBody>
      </p:sp>
      <p:pic>
        <p:nvPicPr>
          <p:cNvPr id="7" name="Picture 6">
            <a:extLst>
              <a:ext uri="{FF2B5EF4-FFF2-40B4-BE49-F238E27FC236}">
                <a16:creationId xmlns:a16="http://schemas.microsoft.com/office/drawing/2014/main" id="{1B9143EE-CE02-435D-E88C-DCF1324A9D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965" y="1968548"/>
            <a:ext cx="4419369" cy="3962559"/>
          </a:xfrm>
          <a:prstGeom prst="rect">
            <a:avLst/>
          </a:prstGeom>
        </p:spPr>
      </p:pic>
    </p:spTree>
    <p:extLst>
      <p:ext uri="{BB962C8B-B14F-4D97-AF65-F5344CB8AC3E}">
        <p14:creationId xmlns:p14="http://schemas.microsoft.com/office/powerpoint/2010/main" val="588598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EED00-2FC6-5192-D611-8AE49BDCF36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086F7AF-983B-6408-FCD4-6ECAB673CFFA}"/>
              </a:ext>
            </a:extLst>
          </p:cNvPr>
          <p:cNvSpPr>
            <a:spLocks noGrp="1"/>
          </p:cNvSpPr>
          <p:nvPr>
            <p:ph type="dt" sz="half" idx="10"/>
          </p:nvPr>
        </p:nvSpPr>
        <p:spPr/>
        <p:txBody>
          <a:bodyPr/>
          <a:lstStyle/>
          <a:p>
            <a:fld id="{19E0BBC2-331D-455A-8F34-6CACAAA7B272}" type="datetime1">
              <a:rPr lang="en-GB" smtClean="0"/>
              <a:t>16/05/2026</a:t>
            </a:fld>
            <a:endParaRPr lang="en-GB"/>
          </a:p>
        </p:txBody>
      </p:sp>
      <p:sp>
        <p:nvSpPr>
          <p:cNvPr id="5" name="Footer Placeholder 4">
            <a:extLst>
              <a:ext uri="{FF2B5EF4-FFF2-40B4-BE49-F238E27FC236}">
                <a16:creationId xmlns:a16="http://schemas.microsoft.com/office/drawing/2014/main" id="{5B7C4C4F-608F-7FD5-2C7E-1F195780ACB1}"/>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4E6C691E-F637-3D4A-C5B4-84491B72AE61}"/>
              </a:ext>
            </a:extLst>
          </p:cNvPr>
          <p:cNvSpPr>
            <a:spLocks noGrp="1"/>
          </p:cNvSpPr>
          <p:nvPr>
            <p:ph type="sldNum" sz="quarter" idx="12"/>
          </p:nvPr>
        </p:nvSpPr>
        <p:spPr/>
        <p:txBody>
          <a:bodyPr/>
          <a:lstStyle/>
          <a:p>
            <a:fld id="{AA3D6EC1-CEF0-44B9-AC69-1554EEB371D5}" type="slidenum">
              <a:rPr lang="en-GB" smtClean="0"/>
              <a:t>7</a:t>
            </a:fld>
            <a:endParaRPr lang="en-GB"/>
          </a:p>
        </p:txBody>
      </p:sp>
      <p:sp>
        <p:nvSpPr>
          <p:cNvPr id="10" name="TextBox 9">
            <a:extLst>
              <a:ext uri="{FF2B5EF4-FFF2-40B4-BE49-F238E27FC236}">
                <a16:creationId xmlns:a16="http://schemas.microsoft.com/office/drawing/2014/main" id="{CB4C5647-6B3E-5091-A97C-7FE8B265AD8F}"/>
              </a:ext>
            </a:extLst>
          </p:cNvPr>
          <p:cNvSpPr txBox="1"/>
          <p:nvPr/>
        </p:nvSpPr>
        <p:spPr>
          <a:xfrm>
            <a:off x="5859286" y="1666967"/>
            <a:ext cx="4807670" cy="3787383"/>
          </a:xfrm>
          <a:prstGeom prst="rect">
            <a:avLst/>
          </a:prstGeom>
          <a:noFill/>
        </p:spPr>
        <p:txBody>
          <a:bodyPr wrap="square" rtlCol="0">
            <a:spAutoFit/>
          </a:bodyPr>
          <a:lstStyle/>
          <a:p>
            <a:pPr>
              <a:lnSpc>
                <a:spcPct val="150000"/>
              </a:lnSpc>
            </a:pPr>
            <a:r>
              <a:rPr lang="en-VN" dirty="0">
                <a:latin typeface="Times New Roman" panose="02020603050405020304" pitchFamily="18" charset="0"/>
                <a:cs typeface="Times New Roman" panose="02020603050405020304" pitchFamily="18" charset="0"/>
              </a:rPr>
              <a:t>Sau khi đọc dữ liệu, PySpark thực hiện bước Transform để làm sạch và xử lý dữ liệu. Hệ thống loại bỏ các giá trị null, lọc các review có star_rating &gt;= 3 và tạo thêm cột review_length để tính độ dài của review. Sau đó, dữ liệu đã xử lý được ghi vào MySQL thông qua JDBC và lưu trong bảng reviews_clean. Cuối cùng, dữ liệu được đọc lại từ MySQL để kiểm tra kết quả ETL trước khi kết thúc Spark Session.</a:t>
            </a:r>
            <a:endParaRPr lang="en-VN" sz="20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8116E854-2FFE-DAB1-A1AE-3133968F0CE1}"/>
              </a:ext>
            </a:extLst>
          </p:cNvPr>
          <p:cNvSpPr>
            <a:spLocks noGrp="1"/>
          </p:cNvSpPr>
          <p:nvPr>
            <p:ph type="title"/>
          </p:nvPr>
        </p:nvSpPr>
        <p:spPr>
          <a:xfrm>
            <a:off x="370181" y="998540"/>
            <a:ext cx="4294585" cy="668427"/>
          </a:xfrm>
        </p:spPr>
        <p:txBody>
          <a:bodyPr>
            <a:noAutofit/>
          </a:bodyPr>
          <a:lstStyle/>
          <a:p>
            <a:r>
              <a:rPr lang="en-VN" b="1" dirty="0"/>
              <a:t>5. ETL Pipeline</a:t>
            </a:r>
            <a:endParaRPr lang="en-US" sz="2800" dirty="0"/>
          </a:p>
        </p:txBody>
      </p:sp>
      <p:pic>
        <p:nvPicPr>
          <p:cNvPr id="8" name="Picture 7">
            <a:extLst>
              <a:ext uri="{FF2B5EF4-FFF2-40B4-BE49-F238E27FC236}">
                <a16:creationId xmlns:a16="http://schemas.microsoft.com/office/drawing/2014/main" id="{46842ED9-C261-752F-98A2-0FC943756DCB}"/>
              </a:ext>
            </a:extLst>
          </p:cNvPr>
          <p:cNvPicPr>
            <a:picLocks noChangeAspect="1"/>
          </p:cNvPicPr>
          <p:nvPr/>
        </p:nvPicPr>
        <p:blipFill>
          <a:blip r:embed="rId2">
            <a:extLst>
              <a:ext uri="{28A0092B-C50C-407E-A947-70E740481C1C}">
                <a14:useLocalDpi xmlns:a14="http://schemas.microsoft.com/office/drawing/2010/main" val="0"/>
              </a:ext>
            </a:extLst>
          </a:blip>
          <a:srcRect t="6632"/>
          <a:stretch>
            <a:fillRect/>
          </a:stretch>
        </p:blipFill>
        <p:spPr>
          <a:xfrm>
            <a:off x="2200137" y="1666967"/>
            <a:ext cx="3219726" cy="4704943"/>
          </a:xfrm>
          <a:prstGeom prst="rect">
            <a:avLst/>
          </a:prstGeom>
        </p:spPr>
      </p:pic>
    </p:spTree>
    <p:extLst>
      <p:ext uri="{BB962C8B-B14F-4D97-AF65-F5344CB8AC3E}">
        <p14:creationId xmlns:p14="http://schemas.microsoft.com/office/powerpoint/2010/main" val="186548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32DC0-6A2A-2320-C34C-13057B45342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2B36192-0E4A-79ED-AFC7-4015F0D0A59E}"/>
              </a:ext>
            </a:extLst>
          </p:cNvPr>
          <p:cNvSpPr>
            <a:spLocks noGrp="1"/>
          </p:cNvSpPr>
          <p:nvPr>
            <p:ph type="dt" sz="half" idx="10"/>
          </p:nvPr>
        </p:nvSpPr>
        <p:spPr/>
        <p:txBody>
          <a:bodyPr/>
          <a:lstStyle/>
          <a:p>
            <a:fld id="{19E0BBC2-331D-455A-8F34-6CACAAA7B272}" type="datetime1">
              <a:rPr lang="en-GB" smtClean="0"/>
              <a:t>16/05/2026</a:t>
            </a:fld>
            <a:endParaRPr lang="en-GB"/>
          </a:p>
        </p:txBody>
      </p:sp>
      <p:sp>
        <p:nvSpPr>
          <p:cNvPr id="5" name="Footer Placeholder 4">
            <a:extLst>
              <a:ext uri="{FF2B5EF4-FFF2-40B4-BE49-F238E27FC236}">
                <a16:creationId xmlns:a16="http://schemas.microsoft.com/office/drawing/2014/main" id="{366D1237-63F5-1A72-579E-3D1B40A3167C}"/>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66773C78-EF01-E8DD-842C-91552653316D}"/>
              </a:ext>
            </a:extLst>
          </p:cNvPr>
          <p:cNvSpPr>
            <a:spLocks noGrp="1"/>
          </p:cNvSpPr>
          <p:nvPr>
            <p:ph type="sldNum" sz="quarter" idx="12"/>
          </p:nvPr>
        </p:nvSpPr>
        <p:spPr/>
        <p:txBody>
          <a:bodyPr/>
          <a:lstStyle/>
          <a:p>
            <a:fld id="{AA3D6EC1-CEF0-44B9-AC69-1554EEB371D5}" type="slidenum">
              <a:rPr lang="en-GB" smtClean="0"/>
              <a:t>8</a:t>
            </a:fld>
            <a:endParaRPr lang="en-GB"/>
          </a:p>
        </p:txBody>
      </p:sp>
      <p:sp>
        <p:nvSpPr>
          <p:cNvPr id="10" name="TextBox 9">
            <a:extLst>
              <a:ext uri="{FF2B5EF4-FFF2-40B4-BE49-F238E27FC236}">
                <a16:creationId xmlns:a16="http://schemas.microsoft.com/office/drawing/2014/main" id="{E00A331D-EAB9-494A-2391-61F43ADDE5F0}"/>
              </a:ext>
            </a:extLst>
          </p:cNvPr>
          <p:cNvSpPr txBox="1"/>
          <p:nvPr/>
        </p:nvSpPr>
        <p:spPr>
          <a:xfrm>
            <a:off x="7014149" y="1664160"/>
            <a:ext cx="4807670" cy="4202882"/>
          </a:xfrm>
          <a:prstGeom prst="rect">
            <a:avLst/>
          </a:prstGeom>
          <a:noFill/>
        </p:spPr>
        <p:txBody>
          <a:bodyPr wrap="square" rtlCol="0">
            <a:spAutoFit/>
          </a:bodyPr>
          <a:lstStyle/>
          <a:p>
            <a:pPr>
              <a:lnSpc>
                <a:spcPct val="150000"/>
              </a:lnSpc>
            </a:pPr>
            <a:r>
              <a:rPr lang="en-VN" dirty="0">
                <a:latin typeface="Times New Roman" panose="02020603050405020304" pitchFamily="18" charset="0"/>
                <a:cs typeface="Times New Roman" panose="02020603050405020304" pitchFamily="18" charset="0"/>
              </a:rPr>
              <a:t>Sau khi dữ liệu được xử lý bằng PySpark và lưu vào MySQL, hệ thống sử dụng các truy vấn SQL để phân tích dữ liệu. Quy trình này giúp kiểm tra chất lượng dữ liệu sau ETL, thống kê số lượng reviews, tính rating trung bình, phân tích nhóm sản phẩm phổ biến và hành vi người dùng. Các kết quả này có thể hỗ trợ phù hợp cho việc xây dựng dashboard, báo cáo dữ liệu hoặc phục vụ cho các bài toán Machine Learning và Data Analytics sau này.</a:t>
            </a:r>
            <a:endParaRPr lang="en-VN" sz="20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0AA8DF92-60A7-DA27-A5F6-B1021C98964B}"/>
              </a:ext>
            </a:extLst>
          </p:cNvPr>
          <p:cNvSpPr>
            <a:spLocks noGrp="1"/>
          </p:cNvSpPr>
          <p:nvPr>
            <p:ph type="title"/>
          </p:nvPr>
        </p:nvSpPr>
        <p:spPr>
          <a:xfrm>
            <a:off x="370181" y="998540"/>
            <a:ext cx="4307836" cy="668427"/>
          </a:xfrm>
        </p:spPr>
        <p:txBody>
          <a:bodyPr>
            <a:noAutofit/>
          </a:bodyPr>
          <a:lstStyle/>
          <a:p>
            <a:r>
              <a:rPr lang="en-US" sz="3200" b="1" dirty="0">
                <a:latin typeface="Times New Roman" panose="02020603050405020304" pitchFamily="18" charset="0"/>
              </a:rPr>
              <a:t>6. SQL Data Analyst</a:t>
            </a:r>
          </a:p>
        </p:txBody>
      </p:sp>
      <p:pic>
        <p:nvPicPr>
          <p:cNvPr id="12" name="Picture 11">
            <a:extLst>
              <a:ext uri="{FF2B5EF4-FFF2-40B4-BE49-F238E27FC236}">
                <a16:creationId xmlns:a16="http://schemas.microsoft.com/office/drawing/2014/main" id="{421103F8-A4A8-CB24-9DA4-CC584EFD3313}"/>
              </a:ext>
            </a:extLst>
          </p:cNvPr>
          <p:cNvPicPr>
            <a:picLocks noChangeAspect="1"/>
          </p:cNvPicPr>
          <p:nvPr/>
        </p:nvPicPr>
        <p:blipFill>
          <a:blip r:embed="rId2">
            <a:extLst>
              <a:ext uri="{28A0092B-C50C-407E-A947-70E740481C1C}">
                <a14:useLocalDpi xmlns:a14="http://schemas.microsoft.com/office/drawing/2010/main" val="0"/>
              </a:ext>
            </a:extLst>
          </a:blip>
          <a:srcRect r="12026"/>
          <a:stretch>
            <a:fillRect/>
          </a:stretch>
        </p:blipFill>
        <p:spPr>
          <a:xfrm>
            <a:off x="162534" y="1857306"/>
            <a:ext cx="6837731" cy="3406704"/>
          </a:xfrm>
          <a:prstGeom prst="rect">
            <a:avLst/>
          </a:prstGeom>
        </p:spPr>
      </p:pic>
    </p:spTree>
    <p:extLst>
      <p:ext uri="{BB962C8B-B14F-4D97-AF65-F5344CB8AC3E}">
        <p14:creationId xmlns:p14="http://schemas.microsoft.com/office/powerpoint/2010/main" val="2190874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622CB-5714-2E87-8CAA-881ED5CBB7C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7E1C4B2-9340-3284-F761-DC031E32E514}"/>
              </a:ext>
            </a:extLst>
          </p:cNvPr>
          <p:cNvSpPr>
            <a:spLocks noGrp="1"/>
          </p:cNvSpPr>
          <p:nvPr>
            <p:ph type="dt" sz="half" idx="10"/>
          </p:nvPr>
        </p:nvSpPr>
        <p:spPr/>
        <p:txBody>
          <a:bodyPr/>
          <a:lstStyle/>
          <a:p>
            <a:fld id="{19E0BBC2-331D-455A-8F34-6CACAAA7B272}" type="datetime1">
              <a:rPr lang="en-GB" smtClean="0"/>
              <a:t>16/05/2026</a:t>
            </a:fld>
            <a:endParaRPr lang="en-GB"/>
          </a:p>
        </p:txBody>
      </p:sp>
      <p:sp>
        <p:nvSpPr>
          <p:cNvPr id="5" name="Footer Placeholder 4">
            <a:extLst>
              <a:ext uri="{FF2B5EF4-FFF2-40B4-BE49-F238E27FC236}">
                <a16:creationId xmlns:a16="http://schemas.microsoft.com/office/drawing/2014/main" id="{C9C75A9E-C831-42BE-50C0-A0E63B078C6A}"/>
              </a:ext>
            </a:extLst>
          </p:cNvPr>
          <p:cNvSpPr>
            <a:spLocks noGrp="1"/>
          </p:cNvSpPr>
          <p:nvPr>
            <p:ph type="ftr" sz="quarter" idx="11"/>
          </p:nvPr>
        </p:nvSpPr>
        <p:spPr/>
        <p:txBody>
          <a:bodyPr/>
          <a:lstStyle/>
          <a:p>
            <a:r>
              <a:rPr lang="en-GB"/>
              <a:t>KIẾN THỨC - KỸ NĂNG - SÁNG TẠO - HỘI NHẬP</a:t>
            </a:r>
          </a:p>
        </p:txBody>
      </p:sp>
      <p:sp>
        <p:nvSpPr>
          <p:cNvPr id="6" name="Slide Number Placeholder 5">
            <a:extLst>
              <a:ext uri="{FF2B5EF4-FFF2-40B4-BE49-F238E27FC236}">
                <a16:creationId xmlns:a16="http://schemas.microsoft.com/office/drawing/2014/main" id="{7A6A1672-092A-6C26-5283-789FA2B937BB}"/>
              </a:ext>
            </a:extLst>
          </p:cNvPr>
          <p:cNvSpPr>
            <a:spLocks noGrp="1"/>
          </p:cNvSpPr>
          <p:nvPr>
            <p:ph type="sldNum" sz="quarter" idx="12"/>
          </p:nvPr>
        </p:nvSpPr>
        <p:spPr/>
        <p:txBody>
          <a:bodyPr/>
          <a:lstStyle/>
          <a:p>
            <a:fld id="{AA3D6EC1-CEF0-44B9-AC69-1554EEB371D5}" type="slidenum">
              <a:rPr lang="en-GB" smtClean="0"/>
              <a:t>9</a:t>
            </a:fld>
            <a:endParaRPr lang="en-GB"/>
          </a:p>
        </p:txBody>
      </p:sp>
      <p:sp>
        <p:nvSpPr>
          <p:cNvPr id="10" name="TextBox 9">
            <a:extLst>
              <a:ext uri="{FF2B5EF4-FFF2-40B4-BE49-F238E27FC236}">
                <a16:creationId xmlns:a16="http://schemas.microsoft.com/office/drawing/2014/main" id="{4C8CE253-8EFB-2F9D-AFA5-B8EFC2119670}"/>
              </a:ext>
            </a:extLst>
          </p:cNvPr>
          <p:cNvSpPr txBox="1"/>
          <p:nvPr/>
        </p:nvSpPr>
        <p:spPr>
          <a:xfrm>
            <a:off x="6096000" y="1754022"/>
            <a:ext cx="4807670" cy="3730317"/>
          </a:xfrm>
          <a:prstGeom prst="rect">
            <a:avLst/>
          </a:prstGeom>
          <a:noFill/>
        </p:spPr>
        <p:txBody>
          <a:bodyPr wrap="square" rtlCol="0">
            <a:spAutoFit/>
          </a:bodyPr>
          <a:lstStyle/>
          <a:p>
            <a:pPr>
              <a:lnSpc>
                <a:spcPct val="150000"/>
              </a:lnSpc>
            </a:pPr>
            <a:r>
              <a:rPr lang="en-VN" sz="2000" dirty="0">
                <a:latin typeface="Times New Roman" panose="02020603050405020304" pitchFamily="18" charset="0"/>
                <a:cs typeface="Times New Roman" panose="02020603050405020304" pitchFamily="18" charset="0"/>
              </a:rPr>
              <a:t>Project giúp em thực hành quy trình ETL thực tế gồm Extract, Transform và Load dữ liệu bằng PySpark và MySQL, đồng thời làm quen với xử lý dữ liệu lớn và phân tích dữ liệu bằng SQL. Qua project, em hiểu rõ hơn về quy trình xử lý dữ liệu từ raw data đến analytical data phục vụ cho Data Analytics và Machine Learning.</a:t>
            </a:r>
          </a:p>
        </p:txBody>
      </p:sp>
      <p:sp>
        <p:nvSpPr>
          <p:cNvPr id="3" name="Title 1">
            <a:extLst>
              <a:ext uri="{FF2B5EF4-FFF2-40B4-BE49-F238E27FC236}">
                <a16:creationId xmlns:a16="http://schemas.microsoft.com/office/drawing/2014/main" id="{583D5D84-AF64-4362-0AE5-49DC85A40AF7}"/>
              </a:ext>
            </a:extLst>
          </p:cNvPr>
          <p:cNvSpPr>
            <a:spLocks noGrp="1"/>
          </p:cNvSpPr>
          <p:nvPr>
            <p:ph type="title"/>
          </p:nvPr>
        </p:nvSpPr>
        <p:spPr>
          <a:xfrm>
            <a:off x="370181" y="998540"/>
            <a:ext cx="4307836" cy="668427"/>
          </a:xfrm>
        </p:spPr>
        <p:txBody>
          <a:bodyPr>
            <a:noAutofit/>
          </a:bodyPr>
          <a:lstStyle/>
          <a:p>
            <a:r>
              <a:rPr lang="en-US" sz="3200" b="1" dirty="0">
                <a:latin typeface="Times New Roman" panose="02020603050405020304" pitchFamily="18" charset="0"/>
              </a:rPr>
              <a:t>7.Tổng </a:t>
            </a:r>
            <a:r>
              <a:rPr lang="en-US" sz="3200" b="1" dirty="0" err="1">
                <a:latin typeface="Times New Roman" panose="02020603050405020304" pitchFamily="18" charset="0"/>
              </a:rPr>
              <a:t>kết</a:t>
            </a:r>
            <a:r>
              <a:rPr lang="en-US" sz="3200" b="1" dirty="0">
                <a:latin typeface="Times New Roman" panose="02020603050405020304" pitchFamily="18" charset="0"/>
              </a:rPr>
              <a:t> </a:t>
            </a:r>
          </a:p>
        </p:txBody>
      </p:sp>
      <p:pic>
        <p:nvPicPr>
          <p:cNvPr id="7" name="Picture 6">
            <a:extLst>
              <a:ext uri="{FF2B5EF4-FFF2-40B4-BE49-F238E27FC236}">
                <a16:creationId xmlns:a16="http://schemas.microsoft.com/office/drawing/2014/main" id="{5364238C-6A79-0577-0A5E-5C27BF0056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181" y="1915834"/>
            <a:ext cx="5566219" cy="3332027"/>
          </a:xfrm>
          <a:prstGeom prst="rect">
            <a:avLst/>
          </a:prstGeom>
        </p:spPr>
      </p:pic>
    </p:spTree>
    <p:extLst>
      <p:ext uri="{BB962C8B-B14F-4D97-AF65-F5344CB8AC3E}">
        <p14:creationId xmlns:p14="http://schemas.microsoft.com/office/powerpoint/2010/main" val="741211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9E0BBC2-331D-455A-8F34-6CACAAA7B272}" type="datetime1">
              <a:rPr lang="en-GB" smtClean="0"/>
              <a:t>16/05/2026</a:t>
            </a:fld>
            <a:endParaRPr lang="en-GB"/>
          </a:p>
        </p:txBody>
      </p:sp>
      <p:sp>
        <p:nvSpPr>
          <p:cNvPr id="5" name="Footer Placeholder 4"/>
          <p:cNvSpPr>
            <a:spLocks noGrp="1"/>
          </p:cNvSpPr>
          <p:nvPr>
            <p:ph type="ftr" sz="quarter" idx="11"/>
          </p:nvPr>
        </p:nvSpPr>
        <p:spPr/>
        <p:txBody>
          <a:bodyPr/>
          <a:lstStyle/>
          <a:p>
            <a:r>
              <a:rPr lang="en-GB"/>
              <a:t>KIẾN THỨC - KỸ NĂNG - SÁNG TẠO - HỘI NHẬP</a:t>
            </a:r>
          </a:p>
        </p:txBody>
      </p:sp>
      <p:sp>
        <p:nvSpPr>
          <p:cNvPr id="6" name="Slide Number Placeholder 5"/>
          <p:cNvSpPr>
            <a:spLocks noGrp="1"/>
          </p:cNvSpPr>
          <p:nvPr>
            <p:ph type="sldNum" sz="quarter" idx="12"/>
          </p:nvPr>
        </p:nvSpPr>
        <p:spPr/>
        <p:txBody>
          <a:bodyPr/>
          <a:lstStyle/>
          <a:p>
            <a:fld id="{AA3D6EC1-CEF0-44B9-AC69-1554EEB371D5}" type="slidenum">
              <a:rPr lang="en-GB" smtClean="0"/>
              <a:t>10</a:t>
            </a:fld>
            <a:endParaRPr lang="en-GB"/>
          </a:p>
        </p:txBody>
      </p:sp>
      <p:sp>
        <p:nvSpPr>
          <p:cNvPr id="7" name="Rectangle 6"/>
          <p:cNvSpPr/>
          <p:nvPr/>
        </p:nvSpPr>
        <p:spPr>
          <a:xfrm>
            <a:off x="1098482" y="2967335"/>
            <a:ext cx="9995045" cy="923330"/>
          </a:xfrm>
          <a:prstGeom prst="rect">
            <a:avLst/>
          </a:prstGeom>
          <a:noFill/>
        </p:spPr>
        <p:txBody>
          <a:bodyPr wrap="none" lIns="91440" tIns="45720" rIns="91440" bIns="45720">
            <a:spAutoFit/>
          </a:bodyPr>
          <a:lstStyle/>
          <a:p>
            <a:pPr algn="ctr"/>
            <a:r>
              <a:rPr lang="vi-VN" sz="5400" b="1" cap="none" spc="0" dirty="0">
                <a:ln w="6600">
                  <a:solidFill>
                    <a:schemeClr val="accent2"/>
                  </a:solidFill>
                  <a:prstDash val="solid"/>
                </a:ln>
                <a:solidFill>
                  <a:srgbClr val="FFFFFF"/>
                </a:solidFill>
                <a:effectLst>
                  <a:outerShdw dist="38100" dir="2700000" algn="tl" rotWithShape="0">
                    <a:schemeClr val="accent2"/>
                  </a:outerShdw>
                </a:effectLst>
              </a:rPr>
              <a:t>Thanks everyone for listening</a:t>
            </a:r>
            <a:endParaRPr lang="en-US" sz="5400" b="1" cap="none" spc="0" dirty="0">
              <a:ln w="6600">
                <a:solidFill>
                  <a:schemeClr val="accent2"/>
                </a:solidFill>
                <a:prstDash val="solid"/>
              </a:ln>
              <a:solidFill>
                <a:srgbClr val="FFFFFF"/>
              </a:solidFill>
              <a:effectLst>
                <a:outerShdw dist="38100" dir="2700000" algn="tl" rotWithShape="0">
                  <a:schemeClr val="accent2"/>
                </a:outerShdw>
              </a:effectLs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TH-Slide-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UTH-Slide-Theme</Template>
  <TotalTime>1703</TotalTime>
  <Words>707</Words>
  <Application>Microsoft Macintosh PowerPoint</Application>
  <PresentationFormat>Widescreen</PresentationFormat>
  <Paragraphs>86</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Segoe UI Black</vt:lpstr>
      <vt:lpstr>Times New Roman</vt:lpstr>
      <vt:lpstr>Wingdings</vt:lpstr>
      <vt:lpstr>UTH-Slide-Theme</vt:lpstr>
      <vt:lpstr>Data Processing with PySpark and MySQL</vt:lpstr>
      <vt:lpstr>Mục tiêu dự án</vt:lpstr>
      <vt:lpstr>PowerPoint Presentation</vt:lpstr>
      <vt:lpstr>3. Dataset</vt:lpstr>
      <vt:lpstr>PowerPoint Presentation</vt:lpstr>
      <vt:lpstr>5. ETL Pipeline</vt:lpstr>
      <vt:lpstr>5. ETL Pipeline</vt:lpstr>
      <vt:lpstr>6. SQL Data Analyst</vt:lpstr>
      <vt:lpstr>7.Tổng kết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TG - Bùi Dương Thế - 2001201093</dc:creator>
  <cp:lastModifiedBy>Hoàng Trần Minh-DL22CLC</cp:lastModifiedBy>
  <cp:revision>42</cp:revision>
  <dcterms:created xsi:type="dcterms:W3CDTF">2023-12-02T15:32:00Z</dcterms:created>
  <dcterms:modified xsi:type="dcterms:W3CDTF">2026-05-16T17:05:55Z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1E87AE2C54B64D00938F747E7FBC41B4_12</vt:lpwstr>
  </property>
  <property fmtid="{D5CDD505-2E9C-101B-9397-08002B2CF9AE}" pid="3" name="KSOProductBuildVer">
    <vt:lpwstr>1033-12.2.0.23131</vt:lpwstr>
  </property>
</Properties>
</file>